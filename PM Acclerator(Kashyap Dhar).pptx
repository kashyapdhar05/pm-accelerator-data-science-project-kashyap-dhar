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7" r:id="rId29"/>
    <p:sldId id="284" r:id="rId30"/>
    <p:sldId id="285" r:id="rId31"/>
    <p:sldId id="307" r:id="rId32"/>
    <p:sldId id="309" r:id="rId33"/>
    <p:sldId id="310" r:id="rId34"/>
    <p:sldId id="286" r:id="rId35"/>
    <p:sldId id="300" r:id="rId36"/>
    <p:sldId id="288" r:id="rId37"/>
    <p:sldId id="311" r:id="rId38"/>
    <p:sldId id="289" r:id="rId39"/>
    <p:sldId id="298" r:id="rId40"/>
    <p:sldId id="301" r:id="rId41"/>
    <p:sldId id="299" r:id="rId42"/>
    <p:sldId id="297" r:id="rId43"/>
    <p:sldId id="302" r:id="rId44"/>
    <p:sldId id="306" r:id="rId45"/>
    <p:sldId id="304" r:id="rId46"/>
    <p:sldId id="305" r:id="rId47"/>
    <p:sldId id="290" r:id="rId48"/>
    <p:sldId id="308" r:id="rId49"/>
    <p:sldId id="291" r:id="rId50"/>
    <p:sldId id="292" r:id="rId51"/>
    <p:sldId id="293" r:id="rId52"/>
    <p:sldId id="294" r:id="rId53"/>
    <p:sldId id="295" r:id="rId54"/>
    <p:sldId id="296"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6E4CA3-5367-4CD4-83C3-82A493D69256}">
          <p14:sldIdLst>
            <p14:sldId id="256"/>
            <p14:sldId id="257"/>
            <p14:sldId id="258"/>
            <p14:sldId id="259"/>
            <p14:sldId id="260"/>
            <p14:sldId id="262"/>
            <p14:sldId id="263"/>
            <p14:sldId id="261"/>
            <p14:sldId id="264"/>
            <p14:sldId id="265"/>
            <p14:sldId id="266"/>
            <p14:sldId id="268"/>
            <p14:sldId id="267"/>
            <p14:sldId id="269"/>
            <p14:sldId id="270"/>
            <p14:sldId id="271"/>
            <p14:sldId id="272"/>
            <p14:sldId id="273"/>
            <p14:sldId id="274"/>
            <p14:sldId id="275"/>
            <p14:sldId id="276"/>
            <p14:sldId id="277"/>
            <p14:sldId id="278"/>
            <p14:sldId id="279"/>
            <p14:sldId id="280"/>
            <p14:sldId id="281"/>
          </p14:sldIdLst>
        </p14:section>
        <p14:section name="Untitled Section" id="{5FD9B7CD-FF46-4EBA-8218-C7973FCB4AB8}">
          <p14:sldIdLst>
            <p14:sldId id="282"/>
            <p14:sldId id="287"/>
            <p14:sldId id="284"/>
            <p14:sldId id="285"/>
            <p14:sldId id="307"/>
            <p14:sldId id="309"/>
            <p14:sldId id="310"/>
            <p14:sldId id="286"/>
            <p14:sldId id="300"/>
            <p14:sldId id="288"/>
            <p14:sldId id="311"/>
            <p14:sldId id="289"/>
            <p14:sldId id="298"/>
            <p14:sldId id="301"/>
            <p14:sldId id="299"/>
            <p14:sldId id="297"/>
            <p14:sldId id="302"/>
            <p14:sldId id="306"/>
            <p14:sldId id="304"/>
            <p14:sldId id="305"/>
            <p14:sldId id="290"/>
            <p14:sldId id="308"/>
            <p14:sldId id="291"/>
            <p14:sldId id="292"/>
            <p14:sldId id="293"/>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4752-FBFA-30B1-2972-87F8ED6D9E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3B8F08-9160-0091-68B9-3E6C0313BD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F25B64-59B8-6829-6264-E2AC0E150190}"/>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D7FE91B9-53CF-6366-4824-2666A21F7A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D3677E-6744-BE92-4BB9-2DBF17EFB6DB}"/>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8268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76679-44BB-59A4-7168-AEA9631841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0ACA70-3E7F-BD03-A0D6-99DCF20304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370BC9-408F-04FC-5D5C-3332FF382B97}"/>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E740ECCA-08FB-D40F-552F-49DBE78923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88B179-7138-66D1-32D0-F2F0AE5AFBDE}"/>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4281452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1B51A-B666-A364-9792-2BF07046C2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4BC22B8-39A1-7285-A099-D8965CD356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891CCB-5BCB-6D5A-2D9E-C3789C87643F}"/>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189F8AF7-860E-77E9-E44E-A15DE9BFFD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2CBBB0-5E33-37F1-2375-476EDF02FE48}"/>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120971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4BF4B-C944-E4D2-A168-C41D1C943B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E1B781-C49B-9D91-2879-4957AC8ED2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F60542-8E3B-196F-E340-9274944168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11961F-0E98-A648-6135-A4DC309BD098}"/>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6" name="Footer Placeholder 5">
            <a:extLst>
              <a:ext uri="{FF2B5EF4-FFF2-40B4-BE49-F238E27FC236}">
                <a16:creationId xmlns:a16="http://schemas.microsoft.com/office/drawing/2014/main" id="{4276E428-25BA-90A7-4B49-865AE21B35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C939BF-C5BF-CC9A-3A6D-F175E5502C50}"/>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498497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F77F-A704-8103-BAF2-0FF9F1331A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936B74-42F3-FCA7-8064-24E5153B7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9E242F-997C-B486-53C2-85B69A5EF2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8527345-A61E-DF09-0884-41000BBE4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51E8E7-ECE2-2192-31BE-910C9BF49B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A7E812-DF5C-3290-15CE-FE00FC9C8A5A}"/>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8" name="Footer Placeholder 7">
            <a:extLst>
              <a:ext uri="{FF2B5EF4-FFF2-40B4-BE49-F238E27FC236}">
                <a16:creationId xmlns:a16="http://schemas.microsoft.com/office/drawing/2014/main" id="{2723C4EF-C36A-5605-9AE6-29622B0F33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BEE6D8-7D9C-4623-A6BB-DCF4A032FF5C}"/>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49961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8253-1849-A58C-3FAD-6B4DE88FCF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AF79B7-3DBE-E8D8-FCDB-63F8EA5EADF7}"/>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4" name="Footer Placeholder 3">
            <a:extLst>
              <a:ext uri="{FF2B5EF4-FFF2-40B4-BE49-F238E27FC236}">
                <a16:creationId xmlns:a16="http://schemas.microsoft.com/office/drawing/2014/main" id="{34F00899-415E-0DE6-8532-07296EEDAE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231BF3-9DFE-AD3D-F962-9FC93E4A4AFF}"/>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418163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F8C877-5625-01B2-42E1-B9F750CFF57E}"/>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3" name="Footer Placeholder 2">
            <a:extLst>
              <a:ext uri="{FF2B5EF4-FFF2-40B4-BE49-F238E27FC236}">
                <a16:creationId xmlns:a16="http://schemas.microsoft.com/office/drawing/2014/main" id="{6BEE93E2-CB0C-B510-51B8-667BC2ABB97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629B93-DF0F-B79C-FF9C-7696DEB4A35C}"/>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632195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AF91-660C-0CB7-F4F6-466FE7CDA5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F670F3-AA62-1535-E35C-C70CE66A62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F98E9D-1ADC-F143-9A8A-CAAE169BD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6CAF2-812D-ECD1-49A6-C49DA23A07C8}"/>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6" name="Footer Placeholder 5">
            <a:extLst>
              <a:ext uri="{FF2B5EF4-FFF2-40B4-BE49-F238E27FC236}">
                <a16:creationId xmlns:a16="http://schemas.microsoft.com/office/drawing/2014/main" id="{12FC9FFA-2A87-47BF-18D7-B0AEC2FA21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02B53B-B2B6-1040-0DAE-6729794779CA}"/>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988105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FEFA-CAFE-C8CD-6A2D-33FF82232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93F7F8-62D8-3109-1DF0-82B1CCF621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400847-2E0E-A55B-C82B-9A2031816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EA683-FB3F-CEA5-13F5-D77623A89BC5}"/>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6" name="Footer Placeholder 5">
            <a:extLst>
              <a:ext uri="{FF2B5EF4-FFF2-40B4-BE49-F238E27FC236}">
                <a16:creationId xmlns:a16="http://schemas.microsoft.com/office/drawing/2014/main" id="{F802B4A7-A31D-4326-E8BF-D4D825040D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0F259C-B77F-6CF2-BAF5-331BE25C17B8}"/>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654186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6753-20C8-E356-94AE-63029311E8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4BA246-479E-0C38-17FF-077592877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51B24-69E9-5278-C573-AB76E3E4FFF7}"/>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A1A84816-C838-8216-945B-8FB994CF59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B63691-5414-6CB7-0A75-F2825418BED0}"/>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198084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7EB7E-5053-FD69-892F-F148E8A2A3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C61027-CA5B-A45F-0938-007EE9ACFA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015B9-597E-A095-771D-DF60CFD616ED}"/>
              </a:ext>
            </a:extLst>
          </p:cNvPr>
          <p:cNvSpPr>
            <a:spLocks noGrp="1"/>
          </p:cNvSpPr>
          <p:nvPr>
            <p:ph type="dt" sz="half" idx="10"/>
          </p:nvPr>
        </p:nvSpPr>
        <p:spPr/>
        <p:txBody>
          <a:body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9B1EF4C6-279B-CEA9-A7DD-B2EFD19879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79A9BA-6E34-20C2-E34A-9F88A0E17877}"/>
              </a:ext>
            </a:extLst>
          </p:cNvPr>
          <p:cNvSpPr>
            <a:spLocks noGrp="1"/>
          </p:cNvSpPr>
          <p:nvPr>
            <p:ph type="sldNum" sz="quarter" idx="12"/>
          </p:nvPr>
        </p:nvSpPr>
        <p:spPr/>
        <p:txBody>
          <a:bodyPr/>
          <a:lstStyle/>
          <a:p>
            <a:fld id="{1E4C1E3F-5F8E-4BDA-9DEA-8FD35593135A}" type="slidenum">
              <a:rPr lang="en-IN" smtClean="0"/>
              <a:t>‹#›</a:t>
            </a:fld>
            <a:endParaRPr lang="en-IN"/>
          </a:p>
        </p:txBody>
      </p:sp>
    </p:spTree>
    <p:extLst>
      <p:ext uri="{BB962C8B-B14F-4D97-AF65-F5344CB8AC3E}">
        <p14:creationId xmlns:p14="http://schemas.microsoft.com/office/powerpoint/2010/main" val="2359569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70570-1280-0732-031F-97BC29D63E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96B97A-8320-19A2-A7B7-83391FFC31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A54841-7075-0821-870D-FC30BD1C90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74AA2A-0F25-4DDB-97D2-7C0E3FF94F3D}" type="datetimeFigureOut">
              <a:rPr lang="en-IN" smtClean="0"/>
              <a:t>01-07-2026</a:t>
            </a:fld>
            <a:endParaRPr lang="en-IN"/>
          </a:p>
        </p:txBody>
      </p:sp>
      <p:sp>
        <p:nvSpPr>
          <p:cNvPr id="5" name="Footer Placeholder 4">
            <a:extLst>
              <a:ext uri="{FF2B5EF4-FFF2-40B4-BE49-F238E27FC236}">
                <a16:creationId xmlns:a16="http://schemas.microsoft.com/office/drawing/2014/main" id="{2C68B906-20BD-576F-28D5-5C7E241E3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212DC92-C507-0400-799D-958008622B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4C1E3F-5F8E-4BDA-9DEA-8FD35593135A}" type="slidenum">
              <a:rPr lang="en-IN" smtClean="0"/>
              <a:t>‹#›</a:t>
            </a:fld>
            <a:endParaRPr lang="en-IN"/>
          </a:p>
        </p:txBody>
      </p:sp>
    </p:spTree>
    <p:extLst>
      <p:ext uri="{BB962C8B-B14F-4D97-AF65-F5344CB8AC3E}">
        <p14:creationId xmlns:p14="http://schemas.microsoft.com/office/powerpoint/2010/main" val="410507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4D42-8436-436D-32DE-D7ACF54C2622}"/>
              </a:ext>
            </a:extLst>
          </p:cNvPr>
          <p:cNvSpPr>
            <a:spLocks noGrp="1"/>
          </p:cNvSpPr>
          <p:nvPr>
            <p:ph type="ctrTitle"/>
          </p:nvPr>
        </p:nvSpPr>
        <p:spPr/>
        <p:txBody>
          <a:bodyPr/>
          <a:lstStyle/>
          <a:p>
            <a:r>
              <a:rPr lang="en-US" dirty="0"/>
              <a:t>PM </a:t>
            </a:r>
            <a:r>
              <a:rPr lang="en-US" dirty="0" err="1"/>
              <a:t>Acclerator</a:t>
            </a:r>
            <a:r>
              <a:rPr lang="en-US" dirty="0"/>
              <a:t> </a:t>
            </a:r>
            <a:br>
              <a:rPr lang="en-US" dirty="0"/>
            </a:br>
            <a:r>
              <a:rPr lang="en-US" dirty="0"/>
              <a:t>Data Analysis</a:t>
            </a:r>
            <a:endParaRPr lang="en-IN" dirty="0"/>
          </a:p>
        </p:txBody>
      </p:sp>
      <p:sp>
        <p:nvSpPr>
          <p:cNvPr id="3" name="Subtitle 2">
            <a:extLst>
              <a:ext uri="{FF2B5EF4-FFF2-40B4-BE49-F238E27FC236}">
                <a16:creationId xmlns:a16="http://schemas.microsoft.com/office/drawing/2014/main" id="{BC0E4C2A-D8D4-B92D-5026-B131400512BC}"/>
              </a:ext>
            </a:extLst>
          </p:cNvPr>
          <p:cNvSpPr>
            <a:spLocks noGrp="1"/>
          </p:cNvSpPr>
          <p:nvPr>
            <p:ph type="subTitle" idx="1"/>
          </p:nvPr>
        </p:nvSpPr>
        <p:spPr>
          <a:xfrm>
            <a:off x="1759974" y="3696417"/>
            <a:ext cx="9144000" cy="1655762"/>
          </a:xfrm>
        </p:spPr>
        <p:txBody>
          <a:bodyPr>
            <a:normAutofit/>
          </a:bodyPr>
          <a:lstStyle/>
          <a:p>
            <a:r>
              <a:rPr lang="en-US" sz="1600" b="1" dirty="0"/>
              <a:t>Kashyap Dhar, 4</a:t>
            </a:r>
            <a:r>
              <a:rPr lang="en-US" sz="1600" b="1" baseline="30000" dirty="0"/>
              <a:t>th</a:t>
            </a:r>
            <a:r>
              <a:rPr lang="en-US" sz="1600" b="1" dirty="0"/>
              <a:t> Year CSE Student at The Northcap University, India</a:t>
            </a:r>
          </a:p>
          <a:p>
            <a:r>
              <a:rPr lang="en-US" sz="1500" b="1" dirty="0"/>
              <a:t>                                                                                                                                                                            </a:t>
            </a:r>
          </a:p>
          <a:p>
            <a:endParaRPr lang="en-IN" sz="1200" b="1" dirty="0"/>
          </a:p>
        </p:txBody>
      </p:sp>
    </p:spTree>
    <p:extLst>
      <p:ext uri="{BB962C8B-B14F-4D97-AF65-F5344CB8AC3E}">
        <p14:creationId xmlns:p14="http://schemas.microsoft.com/office/powerpoint/2010/main" val="40931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8F85E-6C10-C976-87F1-3A40825A844D}"/>
              </a:ext>
            </a:extLst>
          </p:cNvPr>
          <p:cNvSpPr>
            <a:spLocks noGrp="1"/>
          </p:cNvSpPr>
          <p:nvPr>
            <p:ph type="title"/>
          </p:nvPr>
        </p:nvSpPr>
        <p:spPr>
          <a:xfrm>
            <a:off x="838200" y="365126"/>
            <a:ext cx="10515600" cy="598436"/>
          </a:xfrm>
        </p:spPr>
        <p:txBody>
          <a:bodyPr>
            <a:normAutofit fontScale="90000"/>
          </a:bodyPr>
          <a:lstStyle/>
          <a:p>
            <a:br>
              <a:rPr lang="en-US" sz="4000" dirty="0"/>
            </a:br>
            <a:br>
              <a:rPr lang="en-US" sz="4000" dirty="0"/>
            </a:br>
            <a:br>
              <a:rPr lang="en-US" sz="4000" dirty="0"/>
            </a:br>
            <a:br>
              <a:rPr lang="en-US" sz="4000" dirty="0"/>
            </a:br>
            <a:br>
              <a:rPr lang="en-US" sz="4000" dirty="0"/>
            </a:br>
            <a:br>
              <a:rPr lang="en-US" dirty="0"/>
            </a:br>
            <a:r>
              <a:rPr lang="en-IN" dirty="0"/>
              <a:t> </a:t>
            </a:r>
            <a:br>
              <a:rPr lang="en-IN" dirty="0"/>
            </a:br>
            <a:br>
              <a:rPr lang="en-IN" dirty="0"/>
            </a:br>
            <a:br>
              <a:rPr lang="en-IN" dirty="0"/>
            </a:br>
            <a:br>
              <a:rPr lang="en-IN" dirty="0"/>
            </a:br>
            <a:r>
              <a:rPr lang="en-US" dirty="0"/>
              <a:t>PM </a:t>
            </a:r>
            <a:r>
              <a:rPr lang="en-US" dirty="0" err="1"/>
              <a:t>Acclerator</a:t>
            </a:r>
            <a:r>
              <a:rPr lang="en-US" dirty="0"/>
              <a:t>  Mission </a:t>
            </a:r>
            <a:br>
              <a:rPr lang="en-IN" dirty="0"/>
            </a:br>
            <a:br>
              <a:rPr lang="en-IN" dirty="0"/>
            </a:br>
            <a:br>
              <a:rPr lang="en-IN" dirty="0"/>
            </a:br>
            <a:r>
              <a:rPr lang="en-IN" sz="3600" dirty="0"/>
              <a:t>By making industry-leading tools and education available to individuals from all backgrounds,</a:t>
            </a:r>
            <a:r>
              <a:rPr lang="en-IN" sz="3600" b="1" dirty="0"/>
              <a:t> we level the playing field for future PM leaders.</a:t>
            </a:r>
            <a:r>
              <a:rPr lang="en-IN" sz="3600" dirty="0"/>
              <a:t> This is the PM Accelerator motto, as we grant aspiring and experienced PMs what they need most – Access. We introduce you to industry leaders, </a:t>
            </a:r>
            <a:r>
              <a:rPr lang="en-IN" sz="3600" b="1" dirty="0"/>
              <a:t>surround you with the right PM ecosystem</a:t>
            </a:r>
            <a:r>
              <a:rPr lang="en-IN" sz="3600" dirty="0"/>
              <a:t>, and discover the new world of AI product management skills.</a:t>
            </a:r>
          </a:p>
        </p:txBody>
      </p:sp>
      <p:sp>
        <p:nvSpPr>
          <p:cNvPr id="3" name="Content Placeholder 2">
            <a:extLst>
              <a:ext uri="{FF2B5EF4-FFF2-40B4-BE49-F238E27FC236}">
                <a16:creationId xmlns:a16="http://schemas.microsoft.com/office/drawing/2014/main" id="{9E8201BB-3C58-4860-0EFD-48B777B2BAC3}"/>
              </a:ext>
            </a:extLst>
          </p:cNvPr>
          <p:cNvSpPr>
            <a:spLocks noGrp="1"/>
          </p:cNvSpPr>
          <p:nvPr>
            <p:ph idx="1"/>
          </p:nvPr>
        </p:nvSpPr>
        <p:spPr>
          <a:xfrm>
            <a:off x="838200" y="963563"/>
            <a:ext cx="10515600" cy="4365522"/>
          </a:xfrm>
        </p:spPr>
        <p:txBody>
          <a:bodyPr/>
          <a:lstStyle/>
          <a:p>
            <a:endParaRPr lang="en-US" dirty="0"/>
          </a:p>
          <a:p>
            <a:endParaRPr lang="en-IN" dirty="0"/>
          </a:p>
        </p:txBody>
      </p:sp>
    </p:spTree>
    <p:extLst>
      <p:ext uri="{BB962C8B-B14F-4D97-AF65-F5344CB8AC3E}">
        <p14:creationId xmlns:p14="http://schemas.microsoft.com/office/powerpoint/2010/main" val="116734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D72A5-FE28-3782-27A1-AB5B7254D735}"/>
              </a:ext>
            </a:extLst>
          </p:cNvPr>
          <p:cNvSpPr>
            <a:spLocks noGrp="1"/>
          </p:cNvSpPr>
          <p:nvPr>
            <p:ph type="title"/>
          </p:nvPr>
        </p:nvSpPr>
        <p:spPr/>
        <p:txBody>
          <a:bodyPr>
            <a:normAutofit fontScale="90000"/>
          </a:bodyPr>
          <a:lstStyle/>
          <a:p>
            <a:r>
              <a:rPr lang="en-US" dirty="0"/>
              <a:t>Dataset :-</a:t>
            </a:r>
            <a:r>
              <a:rPr lang="en-US" sz="3600" dirty="0"/>
              <a:t>https://www.kaggle.com/datasets/nelgiriyewithana/global-weather-repository/code</a:t>
            </a:r>
            <a:endParaRPr lang="en-IN" sz="3600" dirty="0"/>
          </a:p>
        </p:txBody>
      </p:sp>
      <p:sp>
        <p:nvSpPr>
          <p:cNvPr id="3" name="Content Placeholder 2">
            <a:extLst>
              <a:ext uri="{FF2B5EF4-FFF2-40B4-BE49-F238E27FC236}">
                <a16:creationId xmlns:a16="http://schemas.microsoft.com/office/drawing/2014/main" id="{5E4B2A2B-B3F6-3708-AAD9-29E81856E363}"/>
              </a:ext>
            </a:extLst>
          </p:cNvPr>
          <p:cNvSpPr>
            <a:spLocks noGrp="1"/>
          </p:cNvSpPr>
          <p:nvPr>
            <p:ph idx="1"/>
          </p:nvPr>
        </p:nvSpPr>
        <p:spPr/>
        <p:txBody>
          <a:bodyPr/>
          <a:lstStyle/>
          <a:p>
            <a:r>
              <a:rPr lang="en-US" dirty="0"/>
              <a:t>File=“GlobalWeatherRepository.csv’’</a:t>
            </a:r>
          </a:p>
          <a:p>
            <a:r>
              <a:rPr lang="en-IN" dirty="0"/>
              <a:t>File Contains Global Weather Data </a:t>
            </a:r>
          </a:p>
          <a:p>
            <a:endParaRPr lang="en-IN" dirty="0"/>
          </a:p>
        </p:txBody>
      </p:sp>
    </p:spTree>
    <p:extLst>
      <p:ext uri="{BB962C8B-B14F-4D97-AF65-F5344CB8AC3E}">
        <p14:creationId xmlns:p14="http://schemas.microsoft.com/office/powerpoint/2010/main" val="277305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AD09-61EE-8D87-4D9D-2DBC909DEB3B}"/>
              </a:ext>
            </a:extLst>
          </p:cNvPr>
          <p:cNvSpPr>
            <a:spLocks noGrp="1"/>
          </p:cNvSpPr>
          <p:nvPr>
            <p:ph type="title"/>
          </p:nvPr>
        </p:nvSpPr>
        <p:spPr/>
        <p:txBody>
          <a:bodyPr>
            <a:normAutofit/>
          </a:bodyPr>
          <a:lstStyle/>
          <a:p>
            <a:r>
              <a:rPr lang="en-US" sz="2000" dirty="0"/>
              <a:t>we used df.info() to see what data types are there</a:t>
            </a:r>
            <a:endParaRPr lang="en-IN" sz="2000" dirty="0"/>
          </a:p>
        </p:txBody>
      </p:sp>
      <p:pic>
        <p:nvPicPr>
          <p:cNvPr id="7" name="Content Placeholder 6">
            <a:extLst>
              <a:ext uri="{FF2B5EF4-FFF2-40B4-BE49-F238E27FC236}">
                <a16:creationId xmlns:a16="http://schemas.microsoft.com/office/drawing/2014/main" id="{2FCA494D-F5C2-927D-626C-0EC9754B72EE}"/>
              </a:ext>
            </a:extLst>
          </p:cNvPr>
          <p:cNvPicPr>
            <a:picLocks noGrp="1" noChangeAspect="1"/>
          </p:cNvPicPr>
          <p:nvPr>
            <p:ph idx="1"/>
          </p:nvPr>
        </p:nvPicPr>
        <p:blipFill>
          <a:blip r:embed="rId2"/>
          <a:stretch>
            <a:fillRect/>
          </a:stretch>
        </p:blipFill>
        <p:spPr>
          <a:xfrm>
            <a:off x="1135464" y="1825625"/>
            <a:ext cx="8701872" cy="4667250"/>
          </a:xfrm>
          <a:prstGeom prst="rect">
            <a:avLst/>
          </a:prstGeom>
        </p:spPr>
      </p:pic>
    </p:spTree>
    <p:extLst>
      <p:ext uri="{BB962C8B-B14F-4D97-AF65-F5344CB8AC3E}">
        <p14:creationId xmlns:p14="http://schemas.microsoft.com/office/powerpoint/2010/main" val="331057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287DB0-C91E-E5F8-0843-B870DE88654A}"/>
              </a:ext>
            </a:extLst>
          </p:cNvPr>
          <p:cNvSpPr>
            <a:spLocks noGrp="1"/>
          </p:cNvSpPr>
          <p:nvPr>
            <p:ph type="title"/>
          </p:nvPr>
        </p:nvSpPr>
        <p:spPr>
          <a:xfrm>
            <a:off x="761999" y="1141712"/>
            <a:ext cx="7923815" cy="1129537"/>
          </a:xfrm>
        </p:spPr>
        <p:txBody>
          <a:bodyPr vert="horz" lIns="91440" tIns="45720" rIns="91440" bIns="45720" rtlCol="0" anchor="t">
            <a:normAutofit/>
          </a:bodyPr>
          <a:lstStyle/>
          <a:p>
            <a:r>
              <a:rPr lang="en-US" sz="2800" kern="1200" dirty="0">
                <a:solidFill>
                  <a:schemeClr val="tx1"/>
                </a:solidFill>
                <a:latin typeface="+mj-lt"/>
                <a:ea typeface="+mj-ea"/>
                <a:cs typeface="+mj-cs"/>
              </a:rPr>
              <a:t>we use </a:t>
            </a:r>
            <a:r>
              <a:rPr lang="en-US" sz="2800" kern="1200" dirty="0" err="1">
                <a:solidFill>
                  <a:schemeClr val="tx1"/>
                </a:solidFill>
                <a:latin typeface="+mj-lt"/>
                <a:ea typeface="+mj-ea"/>
                <a:cs typeface="+mj-cs"/>
              </a:rPr>
              <a:t>df.describe</a:t>
            </a:r>
            <a:r>
              <a:rPr lang="en-US" sz="2800" kern="1200" dirty="0">
                <a:solidFill>
                  <a:schemeClr val="tx1"/>
                </a:solidFill>
                <a:latin typeface="+mj-lt"/>
                <a:ea typeface="+mj-ea"/>
                <a:cs typeface="+mj-cs"/>
              </a:rPr>
              <a:t>() to see various things like (mean , std, min) for our dataset across all the columns </a:t>
            </a:r>
          </a:p>
        </p:txBody>
      </p:sp>
      <p:cxnSp>
        <p:nvCxnSpPr>
          <p:cNvPr id="19" name="Straight Connector 18">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BDEFC72F-1A75-9B2B-FB4F-D9216285B963}"/>
              </a:ext>
            </a:extLst>
          </p:cNvPr>
          <p:cNvPicPr>
            <a:picLocks noGrp="1" noChangeAspect="1"/>
          </p:cNvPicPr>
          <p:nvPr>
            <p:ph idx="1"/>
          </p:nvPr>
        </p:nvPicPr>
        <p:blipFill>
          <a:blip r:embed="rId2"/>
          <a:stretch>
            <a:fillRect/>
          </a:stretch>
        </p:blipFill>
        <p:spPr>
          <a:xfrm>
            <a:off x="865139" y="2604782"/>
            <a:ext cx="10478721" cy="2174335"/>
          </a:xfrm>
          <a:prstGeom prst="rect">
            <a:avLst/>
          </a:prstGeom>
        </p:spPr>
      </p:pic>
      <p:cxnSp>
        <p:nvCxnSpPr>
          <p:cNvPr id="21" name="Straight Connector 20">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167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860F-F1C5-27A2-7534-971F87C75AB3}"/>
              </a:ext>
            </a:extLst>
          </p:cNvPr>
          <p:cNvSpPr>
            <a:spLocks noGrp="1"/>
          </p:cNvSpPr>
          <p:nvPr>
            <p:ph type="title"/>
          </p:nvPr>
        </p:nvSpPr>
        <p:spPr/>
        <p:txBody>
          <a:bodyPr/>
          <a:lstStyle/>
          <a:p>
            <a:r>
              <a:rPr lang="en-US" dirty="0"/>
              <a:t>Data Cleaning and Preprocessing</a:t>
            </a:r>
            <a:endParaRPr lang="en-IN" dirty="0"/>
          </a:p>
        </p:txBody>
      </p:sp>
      <p:sp>
        <p:nvSpPr>
          <p:cNvPr id="3" name="Content Placeholder 2">
            <a:extLst>
              <a:ext uri="{FF2B5EF4-FFF2-40B4-BE49-F238E27FC236}">
                <a16:creationId xmlns:a16="http://schemas.microsoft.com/office/drawing/2014/main" id="{9DA9E1EB-9290-1277-7860-720DAAE8F68A}"/>
              </a:ext>
            </a:extLst>
          </p:cNvPr>
          <p:cNvSpPr>
            <a:spLocks noGrp="1"/>
          </p:cNvSpPr>
          <p:nvPr>
            <p:ph idx="1"/>
          </p:nvPr>
        </p:nvSpPr>
        <p:spPr/>
        <p:txBody>
          <a:bodyPr/>
          <a:lstStyle/>
          <a:p>
            <a:r>
              <a:rPr lang="en-US" dirty="0"/>
              <a:t>H</a:t>
            </a:r>
            <a:r>
              <a:rPr lang="en-IN" dirty="0" err="1"/>
              <a:t>andle</a:t>
            </a:r>
            <a:r>
              <a:rPr lang="en-IN" dirty="0"/>
              <a:t> Missing Values </a:t>
            </a:r>
          </a:p>
          <a:p>
            <a:endParaRPr lang="en-IN" dirty="0"/>
          </a:p>
          <a:p>
            <a:endParaRPr lang="en-IN" dirty="0"/>
          </a:p>
          <a:p>
            <a:endParaRPr lang="en-IN" dirty="0"/>
          </a:p>
          <a:p>
            <a:endParaRPr lang="en-IN" dirty="0"/>
          </a:p>
          <a:p>
            <a:r>
              <a:rPr lang="en-IN" dirty="0"/>
              <a:t>These are numeric columns </a:t>
            </a:r>
          </a:p>
        </p:txBody>
      </p:sp>
      <p:pic>
        <p:nvPicPr>
          <p:cNvPr id="7" name="Picture 6">
            <a:extLst>
              <a:ext uri="{FF2B5EF4-FFF2-40B4-BE49-F238E27FC236}">
                <a16:creationId xmlns:a16="http://schemas.microsoft.com/office/drawing/2014/main" id="{DE8CAAC1-83B8-22F6-F77A-4E40D4E1BFDE}"/>
              </a:ext>
            </a:extLst>
          </p:cNvPr>
          <p:cNvPicPr>
            <a:picLocks noChangeAspect="1"/>
          </p:cNvPicPr>
          <p:nvPr/>
        </p:nvPicPr>
        <p:blipFill>
          <a:blip r:embed="rId2"/>
          <a:stretch>
            <a:fillRect/>
          </a:stretch>
        </p:blipFill>
        <p:spPr>
          <a:xfrm>
            <a:off x="622898" y="2419262"/>
            <a:ext cx="5105842" cy="2019475"/>
          </a:xfrm>
          <a:prstGeom prst="rect">
            <a:avLst/>
          </a:prstGeom>
        </p:spPr>
      </p:pic>
    </p:spTree>
    <p:extLst>
      <p:ext uri="{BB962C8B-B14F-4D97-AF65-F5344CB8AC3E}">
        <p14:creationId xmlns:p14="http://schemas.microsoft.com/office/powerpoint/2010/main" val="395139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CC95-F480-5909-7256-66EBC5D5BFB7}"/>
              </a:ext>
            </a:extLst>
          </p:cNvPr>
          <p:cNvSpPr>
            <a:spLocks noGrp="1"/>
          </p:cNvSpPr>
          <p:nvPr>
            <p:ph type="title"/>
          </p:nvPr>
        </p:nvSpPr>
        <p:spPr/>
        <p:txBody>
          <a:bodyPr>
            <a:normAutofit/>
          </a:bodyPr>
          <a:lstStyle/>
          <a:p>
            <a:r>
              <a:rPr lang="en-US" sz="1800" dirty="0"/>
              <a:t>We fill using </a:t>
            </a:r>
            <a:r>
              <a:rPr lang="en-US" sz="1800" dirty="0" err="1"/>
              <a:t>fillna</a:t>
            </a:r>
            <a:r>
              <a:rPr lang="en-US" sz="1800" dirty="0"/>
              <a:t> function to handle missing values and fill that missing values with mean of numeric columns </a:t>
            </a:r>
            <a:br>
              <a:rPr lang="en-US" sz="1800" dirty="0"/>
            </a:br>
            <a:r>
              <a:rPr lang="en-US" sz="1800" dirty="0"/>
              <a:t>we check using .</a:t>
            </a:r>
            <a:r>
              <a:rPr lang="en-US" sz="1800" dirty="0" err="1"/>
              <a:t>isnull</a:t>
            </a:r>
            <a:r>
              <a:rPr lang="en-US" sz="1800" dirty="0"/>
              <a:t>() function and .sum() to show if there are missing values present in data we can see it is 0 </a:t>
            </a:r>
            <a:endParaRPr lang="en-IN" sz="1800" dirty="0"/>
          </a:p>
        </p:txBody>
      </p:sp>
      <p:pic>
        <p:nvPicPr>
          <p:cNvPr id="5" name="Content Placeholder 4">
            <a:extLst>
              <a:ext uri="{FF2B5EF4-FFF2-40B4-BE49-F238E27FC236}">
                <a16:creationId xmlns:a16="http://schemas.microsoft.com/office/drawing/2014/main" id="{689C0321-1E28-6B91-3679-921EE7631B44}"/>
              </a:ext>
            </a:extLst>
          </p:cNvPr>
          <p:cNvPicPr>
            <a:picLocks noGrp="1" noChangeAspect="1"/>
          </p:cNvPicPr>
          <p:nvPr>
            <p:ph idx="1"/>
          </p:nvPr>
        </p:nvPicPr>
        <p:blipFill>
          <a:blip r:embed="rId2"/>
          <a:stretch>
            <a:fillRect/>
          </a:stretch>
        </p:blipFill>
        <p:spPr>
          <a:xfrm>
            <a:off x="1475597" y="1825625"/>
            <a:ext cx="9240806" cy="4351338"/>
          </a:xfrm>
          <a:prstGeom prst="rect">
            <a:avLst/>
          </a:prstGeom>
        </p:spPr>
      </p:pic>
    </p:spTree>
    <p:extLst>
      <p:ext uri="{BB962C8B-B14F-4D97-AF65-F5344CB8AC3E}">
        <p14:creationId xmlns:p14="http://schemas.microsoft.com/office/powerpoint/2010/main" val="2867010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44E28A0-F8F2-4190-AC08-73EF5A051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E39BA9-B8D2-DA33-6670-0141E58A29E4}"/>
              </a:ext>
            </a:extLst>
          </p:cNvPr>
          <p:cNvSpPr>
            <a:spLocks noGrp="1"/>
          </p:cNvSpPr>
          <p:nvPr>
            <p:ph type="title"/>
          </p:nvPr>
        </p:nvSpPr>
        <p:spPr>
          <a:xfrm>
            <a:off x="621756" y="0"/>
            <a:ext cx="7524108" cy="2387600"/>
          </a:xfrm>
        </p:spPr>
        <p:txBody>
          <a:bodyPr vert="horz" lIns="91440" tIns="45720" rIns="91440" bIns="45720" rtlCol="0" anchor="b">
            <a:normAutofit/>
          </a:bodyPr>
          <a:lstStyle/>
          <a:p>
            <a:r>
              <a:rPr lang="en-US" sz="5200" kern="1200" dirty="0">
                <a:solidFill>
                  <a:schemeClr val="tx1"/>
                </a:solidFill>
                <a:latin typeface="+mj-lt"/>
                <a:ea typeface="+mj-ea"/>
                <a:cs typeface="+mj-cs"/>
              </a:rPr>
              <a:t>We further check using .sum() values</a:t>
            </a:r>
          </a:p>
        </p:txBody>
      </p:sp>
      <p:pic>
        <p:nvPicPr>
          <p:cNvPr id="19" name="Content Placeholder 18">
            <a:extLst>
              <a:ext uri="{FF2B5EF4-FFF2-40B4-BE49-F238E27FC236}">
                <a16:creationId xmlns:a16="http://schemas.microsoft.com/office/drawing/2014/main" id="{AEFC3678-EA18-F13A-1F58-C6647DFDC84B}"/>
              </a:ext>
            </a:extLst>
          </p:cNvPr>
          <p:cNvPicPr>
            <a:picLocks noGrp="1" noChangeAspect="1"/>
          </p:cNvPicPr>
          <p:nvPr>
            <p:ph idx="1"/>
          </p:nvPr>
        </p:nvPicPr>
        <p:blipFill>
          <a:blip r:embed="rId2"/>
          <a:stretch>
            <a:fillRect/>
          </a:stretch>
        </p:blipFill>
        <p:spPr>
          <a:xfrm>
            <a:off x="838200" y="3730860"/>
            <a:ext cx="10515600" cy="540867"/>
          </a:xfrm>
          <a:prstGeom prst="rect">
            <a:avLst/>
          </a:prstGeom>
        </p:spPr>
      </p:pic>
    </p:spTree>
    <p:extLst>
      <p:ext uri="{BB962C8B-B14F-4D97-AF65-F5344CB8AC3E}">
        <p14:creationId xmlns:p14="http://schemas.microsoft.com/office/powerpoint/2010/main" val="2938442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18C8-1878-2239-4389-F3D205E2FA6C}"/>
              </a:ext>
            </a:extLst>
          </p:cNvPr>
          <p:cNvSpPr>
            <a:spLocks noGrp="1"/>
          </p:cNvSpPr>
          <p:nvPr>
            <p:ph type="title"/>
          </p:nvPr>
        </p:nvSpPr>
        <p:spPr/>
        <p:txBody>
          <a:bodyPr/>
          <a:lstStyle/>
          <a:p>
            <a:r>
              <a:rPr lang="en-US" dirty="0"/>
              <a:t>We check if there any duplicate values in data or not </a:t>
            </a:r>
            <a:endParaRPr lang="en-IN" dirty="0"/>
          </a:p>
        </p:txBody>
      </p:sp>
      <p:pic>
        <p:nvPicPr>
          <p:cNvPr id="5" name="Content Placeholder 4">
            <a:extLst>
              <a:ext uri="{FF2B5EF4-FFF2-40B4-BE49-F238E27FC236}">
                <a16:creationId xmlns:a16="http://schemas.microsoft.com/office/drawing/2014/main" id="{4D0F2537-5E9A-0BBA-CB0C-9FA9A8D3012A}"/>
              </a:ext>
            </a:extLst>
          </p:cNvPr>
          <p:cNvPicPr>
            <a:picLocks noGrp="1" noChangeAspect="1"/>
          </p:cNvPicPr>
          <p:nvPr>
            <p:ph idx="1"/>
          </p:nvPr>
        </p:nvPicPr>
        <p:blipFill>
          <a:blip r:embed="rId2"/>
          <a:stretch>
            <a:fillRect/>
          </a:stretch>
        </p:blipFill>
        <p:spPr>
          <a:xfrm>
            <a:off x="609600" y="2437657"/>
            <a:ext cx="10852355" cy="1190446"/>
          </a:xfrm>
          <a:prstGeom prst="rect">
            <a:avLst/>
          </a:prstGeom>
        </p:spPr>
      </p:pic>
    </p:spTree>
    <p:extLst>
      <p:ext uri="{BB962C8B-B14F-4D97-AF65-F5344CB8AC3E}">
        <p14:creationId xmlns:p14="http://schemas.microsoft.com/office/powerpoint/2010/main" val="261867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EF54-CE79-F07A-53DA-60DAF37BC565}"/>
              </a:ext>
            </a:extLst>
          </p:cNvPr>
          <p:cNvSpPr>
            <a:spLocks noGrp="1"/>
          </p:cNvSpPr>
          <p:nvPr>
            <p:ph type="title" idx="4294967295"/>
          </p:nvPr>
        </p:nvSpPr>
        <p:spPr>
          <a:xfrm>
            <a:off x="0" y="365125"/>
            <a:ext cx="10515600" cy="1325563"/>
          </a:xfrm>
        </p:spPr>
        <p:txBody>
          <a:bodyPr>
            <a:normAutofit/>
          </a:bodyPr>
          <a:lstStyle/>
          <a:p>
            <a:r>
              <a:rPr lang="en-US" sz="1600" dirty="0"/>
              <a:t>Handling Outliers </a:t>
            </a:r>
            <a:br>
              <a:rPr lang="en-US" dirty="0"/>
            </a:br>
            <a:r>
              <a:rPr lang="en-US" sz="1800" dirty="0"/>
              <a:t>what are outliers </a:t>
            </a:r>
            <a:r>
              <a:rPr lang="en-IN" sz="1800" dirty="0"/>
              <a:t>An </a:t>
            </a:r>
            <a:r>
              <a:rPr lang="en-IN" sz="1800" b="1" dirty="0"/>
              <a:t>outlier</a:t>
            </a:r>
            <a:r>
              <a:rPr lang="en-IN" sz="1800" dirty="0"/>
              <a:t> is a data point that is significantly different from the rest of the observations in a dataset. </a:t>
            </a:r>
            <a:br>
              <a:rPr lang="en-IN" sz="1800" dirty="0"/>
            </a:br>
            <a:br>
              <a:rPr lang="en-IN" sz="1800" dirty="0"/>
            </a:br>
            <a:endParaRPr lang="en-IN" sz="1800" dirty="0"/>
          </a:p>
        </p:txBody>
      </p:sp>
      <p:pic>
        <p:nvPicPr>
          <p:cNvPr id="5" name="Picture 4">
            <a:extLst>
              <a:ext uri="{FF2B5EF4-FFF2-40B4-BE49-F238E27FC236}">
                <a16:creationId xmlns:a16="http://schemas.microsoft.com/office/drawing/2014/main" id="{2E955D69-2845-B8E9-C8CC-8F2A86E1C8C2}"/>
              </a:ext>
            </a:extLst>
          </p:cNvPr>
          <p:cNvPicPr>
            <a:picLocks noChangeAspect="1"/>
          </p:cNvPicPr>
          <p:nvPr/>
        </p:nvPicPr>
        <p:blipFill>
          <a:blip r:embed="rId2"/>
          <a:stretch>
            <a:fillRect/>
          </a:stretch>
        </p:blipFill>
        <p:spPr>
          <a:xfrm>
            <a:off x="373625" y="1690688"/>
            <a:ext cx="12192000" cy="3949235"/>
          </a:xfrm>
          <a:prstGeom prst="rect">
            <a:avLst/>
          </a:prstGeom>
        </p:spPr>
      </p:pic>
    </p:spTree>
    <p:extLst>
      <p:ext uri="{BB962C8B-B14F-4D97-AF65-F5344CB8AC3E}">
        <p14:creationId xmlns:p14="http://schemas.microsoft.com/office/powerpoint/2010/main" val="3879402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2B78-C2A9-1409-8C77-C1910C159FEC}"/>
              </a:ext>
            </a:extLst>
          </p:cNvPr>
          <p:cNvSpPr>
            <a:spLocks noGrp="1"/>
          </p:cNvSpPr>
          <p:nvPr>
            <p:ph type="title"/>
          </p:nvPr>
        </p:nvSpPr>
        <p:spPr/>
        <p:txBody>
          <a:bodyPr/>
          <a:lstStyle/>
          <a:p>
            <a:r>
              <a:rPr lang="en-US" dirty="0"/>
              <a:t>How to calculate outliers</a:t>
            </a:r>
            <a:endParaRPr lang="en-IN" dirty="0"/>
          </a:p>
        </p:txBody>
      </p:sp>
      <p:sp>
        <p:nvSpPr>
          <p:cNvPr id="3" name="Content Placeholder 2">
            <a:extLst>
              <a:ext uri="{FF2B5EF4-FFF2-40B4-BE49-F238E27FC236}">
                <a16:creationId xmlns:a16="http://schemas.microsoft.com/office/drawing/2014/main" id="{B94F9BD4-1E11-4699-0E41-752C545E6892}"/>
              </a:ext>
            </a:extLst>
          </p:cNvPr>
          <p:cNvSpPr>
            <a:spLocks noGrp="1"/>
          </p:cNvSpPr>
          <p:nvPr>
            <p:ph idx="1"/>
          </p:nvPr>
        </p:nvSpPr>
        <p:spPr/>
        <p:txBody>
          <a:bodyPr/>
          <a:lstStyle/>
          <a:p>
            <a:r>
              <a:rPr lang="en-IN" dirty="0"/>
              <a:t> Q1=</a:t>
            </a:r>
            <a:r>
              <a:rPr lang="en-IN" dirty="0" err="1"/>
              <a:t>df</a:t>
            </a:r>
            <a:r>
              <a:rPr lang="en-IN" dirty="0"/>
              <a:t>[col].quantile(0.25)</a:t>
            </a:r>
          </a:p>
          <a:p>
            <a:r>
              <a:rPr lang="en-IN" dirty="0"/>
              <a:t>  Q3=</a:t>
            </a:r>
            <a:r>
              <a:rPr lang="en-IN" dirty="0" err="1"/>
              <a:t>df</a:t>
            </a:r>
            <a:r>
              <a:rPr lang="en-IN" dirty="0"/>
              <a:t>[col].quantile(0.75)</a:t>
            </a:r>
          </a:p>
          <a:p>
            <a:r>
              <a:rPr lang="en-IN" dirty="0"/>
              <a:t> IQR=Q3-Q1</a:t>
            </a:r>
          </a:p>
          <a:p>
            <a:r>
              <a:rPr lang="en-IN" dirty="0"/>
              <a:t>    </a:t>
            </a:r>
            <a:r>
              <a:rPr lang="en-IN" dirty="0" err="1"/>
              <a:t>lower_limit</a:t>
            </a:r>
            <a:r>
              <a:rPr lang="en-IN" dirty="0"/>
              <a:t>=Q1-1.5*IQR</a:t>
            </a:r>
          </a:p>
          <a:p>
            <a:r>
              <a:rPr lang="en-IN" dirty="0"/>
              <a:t>    </a:t>
            </a:r>
            <a:r>
              <a:rPr lang="en-IN" dirty="0" err="1"/>
              <a:t>upper_limit</a:t>
            </a:r>
            <a:r>
              <a:rPr lang="en-IN" dirty="0"/>
              <a:t>=Q3+1.5*IQR</a:t>
            </a:r>
          </a:p>
          <a:p>
            <a:r>
              <a:rPr lang="en-US" dirty="0"/>
              <a:t>This is how we calculate IQR  formula this is used to detect outliers </a:t>
            </a:r>
          </a:p>
          <a:p>
            <a:endParaRPr lang="en-IN" dirty="0"/>
          </a:p>
        </p:txBody>
      </p:sp>
    </p:spTree>
    <p:extLst>
      <p:ext uri="{BB962C8B-B14F-4D97-AF65-F5344CB8AC3E}">
        <p14:creationId xmlns:p14="http://schemas.microsoft.com/office/powerpoint/2010/main" val="29060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11DB-341E-4367-BB1F-7925C510C4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0AC70B-FD94-51F7-BAB8-8ABF35362C51}"/>
              </a:ext>
            </a:extLst>
          </p:cNvPr>
          <p:cNvSpPr>
            <a:spLocks noGrp="1"/>
          </p:cNvSpPr>
          <p:nvPr>
            <p:ph idx="1"/>
          </p:nvPr>
        </p:nvSpPr>
        <p:spPr/>
        <p:txBody>
          <a:bodyPr>
            <a:normAutofit fontScale="62500" lnSpcReduction="20000"/>
          </a:bodyPr>
          <a:lstStyle/>
          <a:p>
            <a:r>
              <a:rPr lang="en-IN" dirty="0"/>
              <a:t>import pandas as pd  </a:t>
            </a:r>
          </a:p>
          <a:p>
            <a:r>
              <a:rPr lang="en-IN" dirty="0" err="1"/>
              <a:t>numeric_cols</a:t>
            </a:r>
            <a:r>
              <a:rPr lang="en-IN" dirty="0"/>
              <a:t>=</a:t>
            </a:r>
            <a:r>
              <a:rPr lang="en-IN" dirty="0" err="1"/>
              <a:t>df.select_dtypes</a:t>
            </a:r>
            <a:r>
              <a:rPr lang="en-IN" dirty="0"/>
              <a:t>(include=['float64','int64']).columns -&gt;  used to find numerical columns </a:t>
            </a:r>
          </a:p>
          <a:p>
            <a:r>
              <a:rPr lang="en-IN" dirty="0"/>
              <a:t>for col in </a:t>
            </a:r>
            <a:r>
              <a:rPr lang="en-IN" dirty="0" err="1"/>
              <a:t>numeric_cols</a:t>
            </a:r>
            <a:r>
              <a:rPr lang="en-IN" dirty="0"/>
              <a:t>:   -&gt; looping through columns </a:t>
            </a:r>
          </a:p>
          <a:p>
            <a:r>
              <a:rPr lang="en-IN" dirty="0"/>
              <a:t>    Q1=</a:t>
            </a:r>
            <a:r>
              <a:rPr lang="en-IN" dirty="0" err="1"/>
              <a:t>df</a:t>
            </a:r>
            <a:r>
              <a:rPr lang="en-IN" dirty="0"/>
              <a:t>[col].quantile(0.25) -&gt; 1</a:t>
            </a:r>
            <a:r>
              <a:rPr lang="en-IN" baseline="30000" dirty="0"/>
              <a:t>st</a:t>
            </a:r>
            <a:r>
              <a:rPr lang="en-IN" dirty="0"/>
              <a:t> quantile</a:t>
            </a:r>
          </a:p>
          <a:p>
            <a:r>
              <a:rPr lang="en-IN" dirty="0"/>
              <a:t>    Q3=</a:t>
            </a:r>
            <a:r>
              <a:rPr lang="en-IN" dirty="0" err="1"/>
              <a:t>df</a:t>
            </a:r>
            <a:r>
              <a:rPr lang="en-IN" dirty="0"/>
              <a:t>[col].quantile(0.75) -&gt; 3</a:t>
            </a:r>
            <a:r>
              <a:rPr lang="en-IN" baseline="30000" dirty="0"/>
              <a:t>rd</a:t>
            </a:r>
            <a:r>
              <a:rPr lang="en-IN" dirty="0"/>
              <a:t> quantile </a:t>
            </a:r>
          </a:p>
          <a:p>
            <a:r>
              <a:rPr lang="en-IN" dirty="0"/>
              <a:t>    IQR=Q3-Q1</a:t>
            </a:r>
          </a:p>
          <a:p>
            <a:r>
              <a:rPr lang="en-IN" dirty="0"/>
              <a:t>    </a:t>
            </a:r>
            <a:r>
              <a:rPr lang="en-IN" dirty="0" err="1"/>
              <a:t>lower_limit</a:t>
            </a:r>
            <a:r>
              <a:rPr lang="en-IN" dirty="0"/>
              <a:t>=Q1-1.5*IQR</a:t>
            </a:r>
          </a:p>
          <a:p>
            <a:r>
              <a:rPr lang="en-IN" dirty="0"/>
              <a:t>    </a:t>
            </a:r>
            <a:r>
              <a:rPr lang="en-IN" dirty="0" err="1"/>
              <a:t>upper_limit</a:t>
            </a:r>
            <a:r>
              <a:rPr lang="en-IN" dirty="0"/>
              <a:t>=Q3+1.5*IQR</a:t>
            </a:r>
          </a:p>
          <a:p>
            <a:r>
              <a:rPr lang="en-IN" dirty="0"/>
              <a:t>    </a:t>
            </a:r>
            <a:r>
              <a:rPr lang="en-IN" dirty="0" err="1"/>
              <a:t>outliers_df</a:t>
            </a:r>
            <a:r>
              <a:rPr lang="en-IN" dirty="0"/>
              <a:t>=</a:t>
            </a:r>
            <a:r>
              <a:rPr lang="en-IN" dirty="0" err="1"/>
              <a:t>df.loc</a:t>
            </a:r>
            <a:r>
              <a:rPr lang="en-IN" dirty="0"/>
              <a:t>[(</a:t>
            </a:r>
            <a:r>
              <a:rPr lang="en-IN" dirty="0" err="1"/>
              <a:t>df</a:t>
            </a:r>
            <a:r>
              <a:rPr lang="en-IN" dirty="0"/>
              <a:t>[col]&lt;</a:t>
            </a:r>
            <a:r>
              <a:rPr lang="en-IN" dirty="0" err="1"/>
              <a:t>lower_limit</a:t>
            </a:r>
            <a:r>
              <a:rPr lang="en-IN" dirty="0"/>
              <a:t>) | (</a:t>
            </a:r>
            <a:r>
              <a:rPr lang="en-IN" dirty="0" err="1"/>
              <a:t>df</a:t>
            </a:r>
            <a:r>
              <a:rPr lang="en-IN" dirty="0"/>
              <a:t>[col]&gt;</a:t>
            </a:r>
            <a:r>
              <a:rPr lang="en-IN" dirty="0" err="1"/>
              <a:t>upper_limit</a:t>
            </a:r>
            <a:r>
              <a:rPr lang="en-IN" dirty="0"/>
              <a:t>)] -&gt;  filters the data to detect outliers </a:t>
            </a:r>
          </a:p>
          <a:p>
            <a:r>
              <a:rPr lang="en-IN" dirty="0"/>
              <a:t>    if not </a:t>
            </a:r>
            <a:r>
              <a:rPr lang="en-IN" dirty="0" err="1"/>
              <a:t>outliers_df.empty</a:t>
            </a:r>
            <a:r>
              <a:rPr lang="en-IN" dirty="0"/>
              <a:t>: -&gt; if outliers are not found in the dataset print “outliers not found”</a:t>
            </a:r>
          </a:p>
          <a:p>
            <a:r>
              <a:rPr lang="en-IN" dirty="0"/>
              <a:t>      print(</a:t>
            </a:r>
            <a:r>
              <a:rPr lang="en-IN" dirty="0" err="1"/>
              <a:t>f"outliers</a:t>
            </a:r>
            <a:r>
              <a:rPr lang="en-IN" dirty="0"/>
              <a:t> found in column {col}")</a:t>
            </a:r>
          </a:p>
          <a:p>
            <a:r>
              <a:rPr lang="en-IN" dirty="0"/>
              <a:t>      </a:t>
            </a:r>
            <a:r>
              <a:rPr lang="en-IN" dirty="0" err="1"/>
              <a:t>outliers_df</a:t>
            </a:r>
            <a:endParaRPr lang="en-IN" dirty="0"/>
          </a:p>
          <a:p>
            <a:br>
              <a:rPr lang="en-IN" dirty="0"/>
            </a:br>
            <a:endParaRPr lang="en-IN" dirty="0"/>
          </a:p>
          <a:p>
            <a:endParaRPr lang="en-IN" dirty="0"/>
          </a:p>
        </p:txBody>
      </p:sp>
    </p:spTree>
    <p:extLst>
      <p:ext uri="{BB962C8B-B14F-4D97-AF65-F5344CB8AC3E}">
        <p14:creationId xmlns:p14="http://schemas.microsoft.com/office/powerpoint/2010/main" val="2100743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58E7-EF36-84F1-2BD4-146EB5B3EA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65C359-E955-6A47-260A-177BD91B50A0}"/>
              </a:ext>
            </a:extLst>
          </p:cNvPr>
          <p:cNvSpPr>
            <a:spLocks noGrp="1"/>
          </p:cNvSpPr>
          <p:nvPr>
            <p:ph idx="1"/>
          </p:nvPr>
        </p:nvSpPr>
        <p:spPr/>
        <p:txBody>
          <a:bodyPr>
            <a:normAutofit fontScale="62500" lnSpcReduction="20000"/>
          </a:bodyPr>
          <a:lstStyle/>
          <a:p>
            <a:r>
              <a:rPr lang="en-IN" dirty="0" err="1"/>
              <a:t>df_cleaned</a:t>
            </a:r>
            <a:r>
              <a:rPr lang="en-IN" dirty="0"/>
              <a:t>=</a:t>
            </a:r>
            <a:r>
              <a:rPr lang="en-IN" dirty="0" err="1"/>
              <a:t>df.copy</a:t>
            </a:r>
            <a:r>
              <a:rPr lang="en-IN" dirty="0"/>
              <a:t>() -&gt;</a:t>
            </a:r>
          </a:p>
          <a:p>
            <a:r>
              <a:rPr lang="en-IN" dirty="0"/>
              <a:t>import </a:t>
            </a:r>
            <a:r>
              <a:rPr lang="en-IN" dirty="0" err="1"/>
              <a:t>numpy</a:t>
            </a:r>
            <a:r>
              <a:rPr lang="en-IN" dirty="0"/>
              <a:t> as np</a:t>
            </a:r>
          </a:p>
          <a:p>
            <a:r>
              <a:rPr lang="en-IN" dirty="0" err="1"/>
              <a:t>numeric_cols</a:t>
            </a:r>
            <a:r>
              <a:rPr lang="en-IN" dirty="0"/>
              <a:t>=</a:t>
            </a:r>
            <a:r>
              <a:rPr lang="en-IN" dirty="0" err="1"/>
              <a:t>df.select_dtypes</a:t>
            </a:r>
            <a:r>
              <a:rPr lang="en-IN" dirty="0"/>
              <a:t>(include=['float64','int64']).columns</a:t>
            </a:r>
          </a:p>
          <a:p>
            <a:r>
              <a:rPr lang="en-IN" dirty="0"/>
              <a:t>for col in </a:t>
            </a:r>
            <a:r>
              <a:rPr lang="en-IN" dirty="0" err="1"/>
              <a:t>numeric_cols</a:t>
            </a:r>
            <a:r>
              <a:rPr lang="en-IN" dirty="0"/>
              <a:t>:</a:t>
            </a:r>
          </a:p>
          <a:p>
            <a:r>
              <a:rPr lang="en-IN" dirty="0"/>
              <a:t>    Q1=</a:t>
            </a:r>
            <a:r>
              <a:rPr lang="en-IN" dirty="0" err="1"/>
              <a:t>df</a:t>
            </a:r>
            <a:r>
              <a:rPr lang="en-IN" dirty="0"/>
              <a:t>[col].quantile(0.25)</a:t>
            </a:r>
          </a:p>
          <a:p>
            <a:r>
              <a:rPr lang="en-IN" dirty="0"/>
              <a:t>    Q3=</a:t>
            </a:r>
            <a:r>
              <a:rPr lang="en-IN" dirty="0" err="1"/>
              <a:t>df</a:t>
            </a:r>
            <a:r>
              <a:rPr lang="en-IN" dirty="0"/>
              <a:t>[col].quantile(0.75)</a:t>
            </a:r>
          </a:p>
          <a:p>
            <a:r>
              <a:rPr lang="en-IN" dirty="0"/>
              <a:t>    IQR=Q3-Q1</a:t>
            </a:r>
          </a:p>
          <a:p>
            <a:r>
              <a:rPr lang="en-IN" dirty="0"/>
              <a:t>    </a:t>
            </a:r>
            <a:r>
              <a:rPr lang="en-IN" dirty="0" err="1"/>
              <a:t>lower_limit</a:t>
            </a:r>
            <a:r>
              <a:rPr lang="en-IN" dirty="0"/>
              <a:t>=Q1-1.5*IQR</a:t>
            </a:r>
          </a:p>
          <a:p>
            <a:r>
              <a:rPr lang="en-IN" dirty="0"/>
              <a:t>    </a:t>
            </a:r>
            <a:r>
              <a:rPr lang="en-IN" dirty="0" err="1"/>
              <a:t>upper_limit</a:t>
            </a:r>
            <a:r>
              <a:rPr lang="en-IN" dirty="0"/>
              <a:t>=Q3+1.5*IQR</a:t>
            </a:r>
          </a:p>
          <a:p>
            <a:r>
              <a:rPr lang="en-IN" dirty="0"/>
              <a:t>    </a:t>
            </a:r>
            <a:r>
              <a:rPr lang="en-IN" dirty="0" err="1"/>
              <a:t>df_cleaned</a:t>
            </a:r>
            <a:r>
              <a:rPr lang="en-IN" dirty="0"/>
              <a:t>[col]=</a:t>
            </a:r>
            <a:r>
              <a:rPr lang="en-IN" dirty="0" err="1"/>
              <a:t>np.where</a:t>
            </a:r>
            <a:r>
              <a:rPr lang="en-IN" dirty="0"/>
              <a:t>(</a:t>
            </a:r>
            <a:r>
              <a:rPr lang="en-IN" dirty="0" err="1"/>
              <a:t>df_cleaned</a:t>
            </a:r>
            <a:r>
              <a:rPr lang="en-IN" dirty="0"/>
              <a:t>[col]&lt;</a:t>
            </a:r>
            <a:r>
              <a:rPr lang="en-IN" dirty="0" err="1"/>
              <a:t>lower_limit,lower_limit,df_cleaned</a:t>
            </a:r>
            <a:r>
              <a:rPr lang="en-IN" dirty="0"/>
              <a:t>[col])</a:t>
            </a:r>
          </a:p>
          <a:p>
            <a:r>
              <a:rPr lang="en-IN" dirty="0"/>
              <a:t>    </a:t>
            </a:r>
            <a:r>
              <a:rPr lang="en-IN" dirty="0" err="1"/>
              <a:t>df_cleaned</a:t>
            </a:r>
            <a:r>
              <a:rPr lang="en-IN" dirty="0"/>
              <a:t>[col]=</a:t>
            </a:r>
            <a:r>
              <a:rPr lang="en-IN" dirty="0" err="1"/>
              <a:t>np.where</a:t>
            </a:r>
            <a:r>
              <a:rPr lang="en-IN" dirty="0"/>
              <a:t>(</a:t>
            </a:r>
            <a:r>
              <a:rPr lang="en-IN" dirty="0" err="1"/>
              <a:t>df_cleaned</a:t>
            </a:r>
            <a:r>
              <a:rPr lang="en-IN" dirty="0"/>
              <a:t>[col]&gt;</a:t>
            </a:r>
            <a:r>
              <a:rPr lang="en-IN" dirty="0" err="1"/>
              <a:t>upper_limit,upper_limit,df_cleaned</a:t>
            </a:r>
            <a:r>
              <a:rPr lang="en-IN" dirty="0"/>
              <a:t>[col])</a:t>
            </a:r>
          </a:p>
          <a:p>
            <a:r>
              <a:rPr lang="en-IN" dirty="0" err="1"/>
              <a:t>df_cleaned</a:t>
            </a:r>
            <a:endParaRPr lang="en-IN" dirty="0"/>
          </a:p>
          <a:p>
            <a:pPr marL="0" indent="0">
              <a:buNone/>
            </a:pPr>
            <a:br>
              <a:rPr lang="en-IN" dirty="0"/>
            </a:br>
            <a:endParaRPr lang="en-IN" dirty="0"/>
          </a:p>
          <a:p>
            <a:endParaRPr lang="en-IN" dirty="0"/>
          </a:p>
        </p:txBody>
      </p:sp>
    </p:spTree>
    <p:extLst>
      <p:ext uri="{BB962C8B-B14F-4D97-AF65-F5344CB8AC3E}">
        <p14:creationId xmlns:p14="http://schemas.microsoft.com/office/powerpoint/2010/main" val="1450307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99F62-5D6D-3494-84AC-9547A27F3E50}"/>
              </a:ext>
            </a:extLst>
          </p:cNvPr>
          <p:cNvSpPr>
            <a:spLocks noGrp="1"/>
          </p:cNvSpPr>
          <p:nvPr>
            <p:ph type="title"/>
          </p:nvPr>
        </p:nvSpPr>
        <p:spPr/>
        <p:txBody>
          <a:bodyPr>
            <a:normAutofit/>
          </a:bodyPr>
          <a:lstStyle/>
          <a:p>
            <a:r>
              <a:rPr lang="en-US" sz="2000" dirty="0"/>
              <a:t>How  did we handle outliers?</a:t>
            </a:r>
            <a:endParaRPr lang="en-IN" sz="2000" dirty="0"/>
          </a:p>
        </p:txBody>
      </p:sp>
      <p:sp>
        <p:nvSpPr>
          <p:cNvPr id="3" name="Content Placeholder 2">
            <a:extLst>
              <a:ext uri="{FF2B5EF4-FFF2-40B4-BE49-F238E27FC236}">
                <a16:creationId xmlns:a16="http://schemas.microsoft.com/office/drawing/2014/main" id="{E5DFE923-D748-E383-3202-2E183154BE9E}"/>
              </a:ext>
            </a:extLst>
          </p:cNvPr>
          <p:cNvSpPr>
            <a:spLocks noGrp="1"/>
          </p:cNvSpPr>
          <p:nvPr>
            <p:ph idx="1"/>
          </p:nvPr>
        </p:nvSpPr>
        <p:spPr/>
        <p:txBody>
          <a:bodyPr>
            <a:normAutofit/>
          </a:bodyPr>
          <a:lstStyle/>
          <a:p>
            <a:r>
              <a:rPr lang="en-IN" sz="2000" dirty="0" err="1"/>
              <a:t>df_cleaned</a:t>
            </a:r>
            <a:r>
              <a:rPr lang="en-IN" sz="2000" dirty="0"/>
              <a:t>[col]=</a:t>
            </a:r>
            <a:r>
              <a:rPr lang="en-IN" sz="2000" dirty="0" err="1"/>
              <a:t>np.where</a:t>
            </a:r>
            <a:r>
              <a:rPr lang="en-IN" sz="2000" dirty="0"/>
              <a:t>(</a:t>
            </a:r>
            <a:r>
              <a:rPr lang="en-IN" sz="2000" dirty="0" err="1"/>
              <a:t>df_cleaned</a:t>
            </a:r>
            <a:r>
              <a:rPr lang="en-IN" sz="2000" dirty="0"/>
              <a:t>[col]&lt;</a:t>
            </a:r>
            <a:r>
              <a:rPr lang="en-IN" sz="2000" dirty="0" err="1"/>
              <a:t>lower_limit,lower_limit,df_cleaned</a:t>
            </a:r>
            <a:r>
              <a:rPr lang="en-IN" sz="2000" dirty="0"/>
              <a:t>[col]).</a:t>
            </a:r>
          </a:p>
          <a:p>
            <a:r>
              <a:rPr lang="en-IN" sz="2000" dirty="0" err="1"/>
              <a:t>df_cleaned</a:t>
            </a:r>
            <a:r>
              <a:rPr lang="en-IN" sz="2000" dirty="0"/>
              <a:t>[col]=</a:t>
            </a:r>
            <a:r>
              <a:rPr lang="en-IN" sz="2000" dirty="0" err="1"/>
              <a:t>np.where</a:t>
            </a:r>
            <a:r>
              <a:rPr lang="en-IN" sz="2000" dirty="0"/>
              <a:t>(</a:t>
            </a:r>
            <a:r>
              <a:rPr lang="en-IN" sz="2000" dirty="0" err="1"/>
              <a:t>df_cleaned</a:t>
            </a:r>
            <a:r>
              <a:rPr lang="en-IN" sz="2000" dirty="0"/>
              <a:t>[col]&gt;</a:t>
            </a:r>
            <a:r>
              <a:rPr lang="en-IN" sz="2000" dirty="0" err="1"/>
              <a:t>upper_limit,upper_limit,df_cleaned</a:t>
            </a:r>
            <a:r>
              <a:rPr lang="en-IN" sz="2000" dirty="0"/>
              <a:t>[col]).</a:t>
            </a:r>
          </a:p>
          <a:p>
            <a:r>
              <a:rPr lang="en-IN" sz="2000" dirty="0"/>
              <a:t>It checks if any value in the column (</a:t>
            </a:r>
            <a:r>
              <a:rPr lang="en-IN" sz="2000" dirty="0" err="1"/>
              <a:t>df_cleaned</a:t>
            </a:r>
            <a:r>
              <a:rPr lang="en-IN" sz="2000" dirty="0"/>
              <a:t>[col]) is </a:t>
            </a:r>
            <a:r>
              <a:rPr lang="en-IN" sz="2000" i="1" dirty="0"/>
              <a:t>less than</a:t>
            </a:r>
            <a:r>
              <a:rPr lang="en-IN" sz="2000" dirty="0"/>
              <a:t> your defined </a:t>
            </a:r>
            <a:r>
              <a:rPr lang="en-IN" sz="2000" dirty="0" err="1"/>
              <a:t>lower_limit</a:t>
            </a:r>
            <a:r>
              <a:rPr lang="en-IN" sz="2000" dirty="0"/>
              <a:t>. And replace it with </a:t>
            </a:r>
            <a:r>
              <a:rPr lang="en-IN" sz="2000" dirty="0" err="1"/>
              <a:t>lower_limit</a:t>
            </a:r>
            <a:r>
              <a:rPr lang="en-IN" sz="2000" dirty="0"/>
              <a:t> otherwise leave it completely alone .</a:t>
            </a:r>
          </a:p>
          <a:p>
            <a:r>
              <a:rPr lang="en-IN" sz="2000" dirty="0"/>
              <a:t>It checks if any value in the column is </a:t>
            </a:r>
            <a:r>
              <a:rPr lang="en-IN" sz="2000" i="1" dirty="0"/>
              <a:t>greater than</a:t>
            </a:r>
            <a:r>
              <a:rPr lang="en-IN" sz="2000" dirty="0"/>
              <a:t> your defined </a:t>
            </a:r>
            <a:r>
              <a:rPr lang="en-IN" sz="2000" dirty="0" err="1"/>
              <a:t>upper_limit</a:t>
            </a:r>
            <a:r>
              <a:rPr lang="en-IN" sz="2000" dirty="0"/>
              <a:t> and replace it with </a:t>
            </a:r>
            <a:r>
              <a:rPr lang="en-IN" sz="2000" dirty="0" err="1"/>
              <a:t>upper_limit</a:t>
            </a:r>
            <a:r>
              <a:rPr lang="en-IN" sz="2000" dirty="0"/>
              <a:t> otherwise leave it completely alone .</a:t>
            </a:r>
          </a:p>
        </p:txBody>
      </p:sp>
    </p:spTree>
    <p:extLst>
      <p:ext uri="{BB962C8B-B14F-4D97-AF65-F5344CB8AC3E}">
        <p14:creationId xmlns:p14="http://schemas.microsoft.com/office/powerpoint/2010/main" val="2625762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9FE4-EFF2-980E-37F2-F7376670EBD5}"/>
              </a:ext>
            </a:extLst>
          </p:cNvPr>
          <p:cNvSpPr>
            <a:spLocks noGrp="1"/>
          </p:cNvSpPr>
          <p:nvPr>
            <p:ph type="title"/>
          </p:nvPr>
        </p:nvSpPr>
        <p:spPr/>
        <p:txBody>
          <a:bodyPr/>
          <a:lstStyle/>
          <a:p>
            <a:r>
              <a:rPr lang="en-US" dirty="0"/>
              <a:t>Splitting the dataset why ?</a:t>
            </a:r>
            <a:endParaRPr lang="en-IN" dirty="0"/>
          </a:p>
        </p:txBody>
      </p:sp>
      <p:sp>
        <p:nvSpPr>
          <p:cNvPr id="3" name="Content Placeholder 2">
            <a:extLst>
              <a:ext uri="{FF2B5EF4-FFF2-40B4-BE49-F238E27FC236}">
                <a16:creationId xmlns:a16="http://schemas.microsoft.com/office/drawing/2014/main" id="{E771A8CE-067B-FC8C-B3C4-3BC916D8E2E7}"/>
              </a:ext>
            </a:extLst>
          </p:cNvPr>
          <p:cNvSpPr>
            <a:spLocks noGrp="1"/>
          </p:cNvSpPr>
          <p:nvPr>
            <p:ph idx="1"/>
          </p:nvPr>
        </p:nvSpPr>
        <p:spPr/>
        <p:txBody>
          <a:bodyPr>
            <a:normAutofit fontScale="85000" lnSpcReduction="20000"/>
          </a:bodyPr>
          <a:lstStyle/>
          <a:p>
            <a:r>
              <a:rPr lang="en-IN" dirty="0"/>
              <a:t>We split the dataset into training and test data because it prevents data leakage . In simple words we don’t want the model to know the answers to questions. </a:t>
            </a:r>
          </a:p>
          <a:p>
            <a:r>
              <a:rPr lang="en-IN" dirty="0"/>
              <a:t>Eg ‘sunny’  we don’t split the model recognize sunny memorizes specific rows , we get 100 percent accuracy . In real world we get ‘</a:t>
            </a:r>
            <a:r>
              <a:rPr lang="en-IN" dirty="0" err="1"/>
              <a:t>bad’,’rainy</a:t>
            </a:r>
            <a:r>
              <a:rPr lang="en-IN" dirty="0"/>
              <a:t>’ it will fail to predict </a:t>
            </a:r>
          </a:p>
          <a:p>
            <a:r>
              <a:rPr lang="en-IN" dirty="0"/>
              <a:t>Eg if we split data 20 test set 80 training the data it figures out when humidity is low and temperature is high , answer is sunny.</a:t>
            </a:r>
          </a:p>
          <a:p>
            <a:r>
              <a:rPr lang="en-IN" dirty="0"/>
              <a:t>If we deploy it to real world (20 hidden dataset) , we only give features say humidity and temperature , if it guesses sunny we can say that it has learned </a:t>
            </a:r>
          </a:p>
          <a:p>
            <a:endParaRPr lang="en-IN" dirty="0"/>
          </a:p>
          <a:p>
            <a:pPr marL="0" indent="0">
              <a:buNone/>
            </a:pPr>
            <a:br>
              <a:rPr lang="en-IN" dirty="0"/>
            </a:br>
            <a:endParaRPr lang="en-IN" dirty="0"/>
          </a:p>
          <a:p>
            <a:endParaRPr lang="en-IN" dirty="0"/>
          </a:p>
        </p:txBody>
      </p:sp>
    </p:spTree>
    <p:extLst>
      <p:ext uri="{BB962C8B-B14F-4D97-AF65-F5344CB8AC3E}">
        <p14:creationId xmlns:p14="http://schemas.microsoft.com/office/powerpoint/2010/main" val="3738938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086B-B313-CDF4-C448-2AF86A717BE0}"/>
              </a:ext>
            </a:extLst>
          </p:cNvPr>
          <p:cNvSpPr>
            <a:spLocks noGrp="1"/>
          </p:cNvSpPr>
          <p:nvPr>
            <p:ph type="title"/>
          </p:nvPr>
        </p:nvSpPr>
        <p:spPr>
          <a:xfrm>
            <a:off x="838200" y="18256"/>
            <a:ext cx="10515600" cy="30621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3153DF2-AA3D-BB10-9516-DDFADEEAB2B9}"/>
              </a:ext>
            </a:extLst>
          </p:cNvPr>
          <p:cNvSpPr>
            <a:spLocks noGrp="1"/>
          </p:cNvSpPr>
          <p:nvPr>
            <p:ph idx="1"/>
          </p:nvPr>
        </p:nvSpPr>
        <p:spPr>
          <a:xfrm>
            <a:off x="838200" y="570272"/>
            <a:ext cx="10515600" cy="5606692"/>
          </a:xfrm>
        </p:spPr>
        <p:txBody>
          <a:bodyPr>
            <a:normAutofit fontScale="85000" lnSpcReduction="20000"/>
          </a:bodyPr>
          <a:lstStyle/>
          <a:p>
            <a:pPr marL="0" indent="0">
              <a:buNone/>
            </a:pPr>
            <a:endParaRPr lang="en-IN" dirty="0"/>
          </a:p>
          <a:p>
            <a:r>
              <a:rPr lang="en-IN" dirty="0"/>
              <a:t>from </a:t>
            </a:r>
            <a:r>
              <a:rPr lang="en-IN" dirty="0" err="1"/>
              <a:t>sklearn.model_selection</a:t>
            </a:r>
            <a:r>
              <a:rPr lang="en-IN" dirty="0"/>
              <a:t> import </a:t>
            </a:r>
            <a:r>
              <a:rPr lang="en-IN" dirty="0" err="1"/>
              <a:t>train_test_split</a:t>
            </a:r>
            <a:endParaRPr lang="en-IN" dirty="0"/>
          </a:p>
          <a:p>
            <a:r>
              <a:rPr lang="en-IN" dirty="0"/>
              <a:t>Imports </a:t>
            </a:r>
            <a:r>
              <a:rPr lang="en-IN" dirty="0" err="1"/>
              <a:t>train_test_split</a:t>
            </a:r>
            <a:r>
              <a:rPr lang="en-IN" dirty="0"/>
              <a:t> </a:t>
            </a:r>
          </a:p>
          <a:p>
            <a:r>
              <a:rPr lang="en-IN" dirty="0"/>
              <a:t>x=</a:t>
            </a:r>
            <a:r>
              <a:rPr lang="en-IN" dirty="0" err="1"/>
              <a:t>df_cleaned.drop</a:t>
            </a:r>
            <a:r>
              <a:rPr lang="en-IN" dirty="0"/>
              <a:t>(columns=['</a:t>
            </a:r>
            <a:r>
              <a:rPr lang="en-IN" dirty="0" err="1"/>
              <a:t>condition_text</a:t>
            </a:r>
            <a:r>
              <a:rPr lang="en-IN" dirty="0"/>
              <a:t>’])</a:t>
            </a:r>
          </a:p>
          <a:p>
            <a:r>
              <a:rPr lang="en-IN" dirty="0"/>
              <a:t>Drops the column name ['</a:t>
            </a:r>
            <a:r>
              <a:rPr lang="en-IN" dirty="0" err="1"/>
              <a:t>condition_text</a:t>
            </a:r>
            <a:r>
              <a:rPr lang="en-IN" dirty="0"/>
              <a:t>’] because this is the answer </a:t>
            </a:r>
          </a:p>
          <a:p>
            <a:r>
              <a:rPr lang="en-IN" dirty="0"/>
              <a:t>y=</a:t>
            </a:r>
            <a:r>
              <a:rPr lang="en-IN" dirty="0" err="1"/>
              <a:t>df_cleaned</a:t>
            </a:r>
            <a:r>
              <a:rPr lang="en-IN" dirty="0"/>
              <a:t>['</a:t>
            </a:r>
            <a:r>
              <a:rPr lang="en-IN" dirty="0" err="1"/>
              <a:t>condition_text</a:t>
            </a:r>
            <a:r>
              <a:rPr lang="en-IN" dirty="0"/>
              <a:t>’]</a:t>
            </a:r>
          </a:p>
          <a:p>
            <a:r>
              <a:rPr lang="en-IN" dirty="0"/>
              <a:t>Contains the answer like ‘sunny’, ’rainy’ which we will predict </a:t>
            </a:r>
          </a:p>
          <a:p>
            <a:r>
              <a:rPr lang="en-IN" dirty="0" err="1"/>
              <a:t>x_train,x_test,y_train,y_test</a:t>
            </a:r>
            <a:r>
              <a:rPr lang="en-IN" dirty="0"/>
              <a:t>=</a:t>
            </a:r>
            <a:r>
              <a:rPr lang="en-IN" dirty="0" err="1"/>
              <a:t>train_test_split</a:t>
            </a:r>
            <a:r>
              <a:rPr lang="en-IN" dirty="0"/>
              <a:t>(</a:t>
            </a:r>
            <a:r>
              <a:rPr lang="en-IN" dirty="0" err="1"/>
              <a:t>x,y,test_size</a:t>
            </a:r>
            <a:r>
              <a:rPr lang="en-IN" dirty="0"/>
              <a:t>=0.2,random_state=42)</a:t>
            </a:r>
          </a:p>
          <a:p>
            <a:r>
              <a:rPr lang="en-IN" dirty="0"/>
              <a:t>(</a:t>
            </a:r>
            <a:r>
              <a:rPr lang="en-IN" dirty="0" err="1"/>
              <a:t>x_train</a:t>
            </a:r>
            <a:r>
              <a:rPr lang="en-IN" dirty="0"/>
              <a:t>,) alongside with their correct answers (</a:t>
            </a:r>
            <a:r>
              <a:rPr lang="en-IN" dirty="0" err="1"/>
              <a:t>y_train</a:t>
            </a:r>
            <a:r>
              <a:rPr lang="en-IN" dirty="0"/>
              <a:t>) represent 80 percent of data upon which model will train</a:t>
            </a:r>
          </a:p>
          <a:p>
            <a:r>
              <a:rPr lang="en-IN" dirty="0"/>
              <a:t>(</a:t>
            </a:r>
            <a:r>
              <a:rPr lang="en-IN" dirty="0" err="1"/>
              <a:t>x_test</a:t>
            </a:r>
            <a:r>
              <a:rPr lang="en-IN" dirty="0"/>
              <a:t>) Is hidden upon learning and see if prediction matches hidden answers (</a:t>
            </a:r>
            <a:r>
              <a:rPr lang="en-IN" dirty="0" err="1"/>
              <a:t>y_test</a:t>
            </a:r>
            <a:r>
              <a:rPr lang="en-IN" dirty="0"/>
              <a:t>) .This prevents data leakage .</a:t>
            </a:r>
          </a:p>
          <a:p>
            <a:r>
              <a:rPr lang="en-IN" dirty="0" err="1"/>
              <a:t>random_state</a:t>
            </a:r>
            <a:r>
              <a:rPr lang="en-IN" dirty="0"/>
              <a:t>=42 ensures randomness so that you don’t get same specific rows each time we run the code </a:t>
            </a:r>
          </a:p>
          <a:p>
            <a:endParaRPr lang="en-IN" dirty="0"/>
          </a:p>
          <a:p>
            <a:endParaRPr lang="en-IN" dirty="0"/>
          </a:p>
          <a:p>
            <a:pPr marL="0" indent="0">
              <a:buNone/>
            </a:pPr>
            <a:endParaRPr lang="en-IN" dirty="0"/>
          </a:p>
          <a:p>
            <a:endParaRPr lang="en-IN" dirty="0"/>
          </a:p>
        </p:txBody>
      </p:sp>
      <p:sp>
        <p:nvSpPr>
          <p:cNvPr id="5" name="TextBox 4">
            <a:extLst>
              <a:ext uri="{FF2B5EF4-FFF2-40B4-BE49-F238E27FC236}">
                <a16:creationId xmlns:a16="http://schemas.microsoft.com/office/drawing/2014/main" id="{56C2791E-686E-95B0-C5C2-C085831CC972}"/>
              </a:ext>
            </a:extLst>
          </p:cNvPr>
          <p:cNvSpPr txBox="1"/>
          <p:nvPr/>
        </p:nvSpPr>
        <p:spPr>
          <a:xfrm>
            <a:off x="3048000" y="2755856"/>
            <a:ext cx="6096000"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3155708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7B3F-8F08-5B2F-36BE-6642955FB09B}"/>
              </a:ext>
            </a:extLst>
          </p:cNvPr>
          <p:cNvSpPr>
            <a:spLocks noGrp="1"/>
          </p:cNvSpPr>
          <p:nvPr>
            <p:ph type="title"/>
          </p:nvPr>
        </p:nvSpPr>
        <p:spPr/>
        <p:txBody>
          <a:bodyPr/>
          <a:lstStyle/>
          <a:p>
            <a:r>
              <a:rPr lang="en-US" dirty="0"/>
              <a:t>Handling the text columns</a:t>
            </a:r>
            <a:endParaRPr lang="en-IN" dirty="0"/>
          </a:p>
        </p:txBody>
      </p:sp>
      <p:sp>
        <p:nvSpPr>
          <p:cNvPr id="3" name="Content Placeholder 2">
            <a:extLst>
              <a:ext uri="{FF2B5EF4-FFF2-40B4-BE49-F238E27FC236}">
                <a16:creationId xmlns:a16="http://schemas.microsoft.com/office/drawing/2014/main" id="{744D0E10-7659-0993-27B6-752F80016DFA}"/>
              </a:ext>
            </a:extLst>
          </p:cNvPr>
          <p:cNvSpPr>
            <a:spLocks noGrp="1"/>
          </p:cNvSpPr>
          <p:nvPr>
            <p:ph idx="1"/>
          </p:nvPr>
        </p:nvSpPr>
        <p:spPr/>
        <p:txBody>
          <a:bodyPr/>
          <a:lstStyle/>
          <a:p>
            <a:r>
              <a:rPr lang="en-US" dirty="0"/>
              <a:t>Since ml algorithms can run on text columns like ‘sunny’ </a:t>
            </a:r>
            <a:r>
              <a:rPr lang="en-US" dirty="0" err="1"/>
              <a:t>etc</a:t>
            </a:r>
            <a:r>
              <a:rPr lang="en-US" dirty="0"/>
              <a:t> we use encoding techniques such as one hot encoding or label encoding </a:t>
            </a:r>
          </a:p>
          <a:p>
            <a:r>
              <a:rPr lang="en-US" dirty="0"/>
              <a:t>To simplify we have used label encoding in our dataset </a:t>
            </a:r>
          </a:p>
          <a:p>
            <a:endParaRPr lang="en-IN" dirty="0"/>
          </a:p>
        </p:txBody>
      </p:sp>
      <p:pic>
        <p:nvPicPr>
          <p:cNvPr id="5" name="Picture 4">
            <a:extLst>
              <a:ext uri="{FF2B5EF4-FFF2-40B4-BE49-F238E27FC236}">
                <a16:creationId xmlns:a16="http://schemas.microsoft.com/office/drawing/2014/main" id="{78A5FB60-A68B-8981-CA86-7ACA0AC875AF}"/>
              </a:ext>
            </a:extLst>
          </p:cNvPr>
          <p:cNvPicPr>
            <a:picLocks noChangeAspect="1"/>
          </p:cNvPicPr>
          <p:nvPr/>
        </p:nvPicPr>
        <p:blipFill>
          <a:blip r:embed="rId2"/>
          <a:stretch>
            <a:fillRect/>
          </a:stretch>
        </p:blipFill>
        <p:spPr>
          <a:xfrm>
            <a:off x="1696065" y="3844413"/>
            <a:ext cx="7620000" cy="2836606"/>
          </a:xfrm>
          <a:prstGeom prst="rect">
            <a:avLst/>
          </a:prstGeom>
        </p:spPr>
      </p:pic>
    </p:spTree>
    <p:extLst>
      <p:ext uri="{BB962C8B-B14F-4D97-AF65-F5344CB8AC3E}">
        <p14:creationId xmlns:p14="http://schemas.microsoft.com/office/powerpoint/2010/main" val="3191511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A7B2-A6BE-5F86-8291-D237F11FB609}"/>
              </a:ext>
            </a:extLst>
          </p:cNvPr>
          <p:cNvSpPr>
            <a:spLocks noGrp="1"/>
          </p:cNvSpPr>
          <p:nvPr>
            <p:ph type="title"/>
          </p:nvPr>
        </p:nvSpPr>
        <p:spPr/>
        <p:txBody>
          <a:bodyPr/>
          <a:lstStyle/>
          <a:p>
            <a:r>
              <a:rPr lang="en-US" dirty="0"/>
              <a:t>Scaling</a:t>
            </a:r>
            <a:endParaRPr lang="en-IN" dirty="0"/>
          </a:p>
        </p:txBody>
      </p:sp>
      <p:sp>
        <p:nvSpPr>
          <p:cNvPr id="3" name="Content Placeholder 2">
            <a:extLst>
              <a:ext uri="{FF2B5EF4-FFF2-40B4-BE49-F238E27FC236}">
                <a16:creationId xmlns:a16="http://schemas.microsoft.com/office/drawing/2014/main" id="{0F3721EB-CCB6-6C8D-0FC7-FBE00A090837}"/>
              </a:ext>
            </a:extLst>
          </p:cNvPr>
          <p:cNvSpPr>
            <a:spLocks noGrp="1"/>
          </p:cNvSpPr>
          <p:nvPr>
            <p:ph idx="1"/>
          </p:nvPr>
        </p:nvSpPr>
        <p:spPr/>
        <p:txBody>
          <a:bodyPr/>
          <a:lstStyle/>
          <a:p>
            <a:r>
              <a:rPr lang="en-US" dirty="0"/>
              <a:t>If </a:t>
            </a:r>
            <a:r>
              <a:rPr lang="en-IN" dirty="0"/>
              <a:t>humidity ranges from 0 to 100 and </a:t>
            </a:r>
            <a:r>
              <a:rPr lang="en-IN" dirty="0" err="1"/>
              <a:t>pressure_mb</a:t>
            </a:r>
            <a:r>
              <a:rPr lang="en-IN" dirty="0"/>
              <a:t> range from 0 to 1000 the ml algorithm we get confused.</a:t>
            </a:r>
          </a:p>
          <a:p>
            <a:r>
              <a:rPr lang="en-IN" dirty="0"/>
              <a:t>So we use techniques such as min max </a:t>
            </a:r>
            <a:r>
              <a:rPr lang="en-IN" dirty="0" err="1"/>
              <a:t>scaling,normalization</a:t>
            </a:r>
            <a:r>
              <a:rPr lang="en-IN" dirty="0"/>
              <a:t> so that dataset is within the range </a:t>
            </a:r>
          </a:p>
          <a:p>
            <a:endParaRPr lang="en-US" dirty="0"/>
          </a:p>
        </p:txBody>
      </p:sp>
    </p:spTree>
    <p:extLst>
      <p:ext uri="{BB962C8B-B14F-4D97-AF65-F5344CB8AC3E}">
        <p14:creationId xmlns:p14="http://schemas.microsoft.com/office/powerpoint/2010/main" val="25770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024E-723C-7B58-0B5B-502C83F8E44C}"/>
              </a:ext>
            </a:extLst>
          </p:cNvPr>
          <p:cNvSpPr>
            <a:spLocks noGrp="1"/>
          </p:cNvSpPr>
          <p:nvPr>
            <p:ph type="title"/>
          </p:nvPr>
        </p:nvSpPr>
        <p:spPr/>
        <p:txBody>
          <a:bodyPr/>
          <a:lstStyle/>
          <a:p>
            <a:r>
              <a:rPr lang="en-US" dirty="0"/>
              <a:t>Code for Scaling and Normalization</a:t>
            </a:r>
            <a:endParaRPr lang="en-IN" dirty="0"/>
          </a:p>
        </p:txBody>
      </p:sp>
      <p:sp>
        <p:nvSpPr>
          <p:cNvPr id="3" name="Content Placeholder 2">
            <a:extLst>
              <a:ext uri="{FF2B5EF4-FFF2-40B4-BE49-F238E27FC236}">
                <a16:creationId xmlns:a16="http://schemas.microsoft.com/office/drawing/2014/main" id="{3E5E5FC5-EB9E-340E-9F44-C9B6ABADB9AF}"/>
              </a:ext>
            </a:extLst>
          </p:cNvPr>
          <p:cNvSpPr>
            <a:spLocks noGrp="1"/>
          </p:cNvSpPr>
          <p:nvPr>
            <p:ph idx="1"/>
          </p:nvPr>
        </p:nvSpPr>
        <p:spPr/>
        <p:txBody>
          <a:bodyPr>
            <a:normAutofit fontScale="55000" lnSpcReduction="20000"/>
          </a:bodyPr>
          <a:lstStyle/>
          <a:p>
            <a:r>
              <a:rPr lang="en-IN" dirty="0"/>
              <a:t>from </a:t>
            </a:r>
            <a:r>
              <a:rPr lang="en-IN" dirty="0" err="1"/>
              <a:t>sklearn.preprocessing</a:t>
            </a:r>
            <a:r>
              <a:rPr lang="en-IN" dirty="0"/>
              <a:t> import </a:t>
            </a:r>
            <a:r>
              <a:rPr lang="en-IN" dirty="0" err="1"/>
              <a:t>LabelEncoder</a:t>
            </a:r>
            <a:r>
              <a:rPr lang="en-IN" dirty="0"/>
              <a:t>, </a:t>
            </a:r>
            <a:r>
              <a:rPr lang="en-IN" dirty="0" err="1"/>
              <a:t>MinMaxScaler</a:t>
            </a:r>
            <a:r>
              <a:rPr lang="en-IN" dirty="0"/>
              <a:t>  -&gt; import </a:t>
            </a:r>
            <a:r>
              <a:rPr lang="en-IN" dirty="0" err="1"/>
              <a:t>LabelEncoder</a:t>
            </a:r>
            <a:r>
              <a:rPr lang="en-IN" dirty="0"/>
              <a:t> and </a:t>
            </a:r>
            <a:r>
              <a:rPr lang="en-IN" dirty="0" err="1"/>
              <a:t>MinMaxScaler</a:t>
            </a:r>
            <a:r>
              <a:rPr lang="en-IN" dirty="0"/>
              <a:t> </a:t>
            </a:r>
          </a:p>
          <a:p>
            <a:r>
              <a:rPr lang="en-IN" dirty="0"/>
              <a:t>import pandas as pd    </a:t>
            </a:r>
          </a:p>
          <a:p>
            <a:pPr marL="0" indent="0">
              <a:buNone/>
            </a:pPr>
            <a:endParaRPr lang="en-IN" dirty="0"/>
          </a:p>
          <a:p>
            <a:r>
              <a:rPr lang="en-IN" dirty="0" err="1"/>
              <a:t>label_encoder</a:t>
            </a:r>
            <a:r>
              <a:rPr lang="en-IN" dirty="0"/>
              <a:t> = </a:t>
            </a:r>
            <a:r>
              <a:rPr lang="en-IN" dirty="0" err="1"/>
              <a:t>LabelEncoder</a:t>
            </a:r>
            <a:r>
              <a:rPr lang="en-IN" dirty="0"/>
              <a:t>()   -&gt; </a:t>
            </a:r>
            <a:r>
              <a:rPr lang="en-IN" dirty="0" err="1"/>
              <a:t>labelencoder</a:t>
            </a:r>
            <a:r>
              <a:rPr lang="en-IN" dirty="0"/>
              <a:t> project</a:t>
            </a:r>
          </a:p>
          <a:p>
            <a:r>
              <a:rPr lang="en-IN" dirty="0" err="1"/>
              <a:t>y_train_ready</a:t>
            </a:r>
            <a:r>
              <a:rPr lang="en-IN" dirty="0"/>
              <a:t> = </a:t>
            </a:r>
            <a:r>
              <a:rPr lang="en-IN" dirty="0" err="1"/>
              <a:t>label_encoder.fit_transform</a:t>
            </a:r>
            <a:r>
              <a:rPr lang="en-IN" dirty="0"/>
              <a:t>(</a:t>
            </a:r>
            <a:r>
              <a:rPr lang="en-IN" dirty="0" err="1"/>
              <a:t>y_train</a:t>
            </a:r>
            <a:r>
              <a:rPr lang="en-IN" dirty="0"/>
              <a:t>) -&gt; fit learns unique category and then transform( encoding)</a:t>
            </a:r>
          </a:p>
          <a:p>
            <a:r>
              <a:rPr lang="en-IN" dirty="0" err="1"/>
              <a:t>y_test_ready</a:t>
            </a:r>
            <a:r>
              <a:rPr lang="en-IN" dirty="0"/>
              <a:t> = </a:t>
            </a:r>
            <a:r>
              <a:rPr lang="en-IN" dirty="0" err="1"/>
              <a:t>label_encoder.transform</a:t>
            </a:r>
            <a:r>
              <a:rPr lang="en-IN" dirty="0"/>
              <a:t>(</a:t>
            </a:r>
            <a:r>
              <a:rPr lang="en-IN" dirty="0" err="1"/>
              <a:t>y_test</a:t>
            </a:r>
            <a:r>
              <a:rPr lang="en-IN" dirty="0"/>
              <a:t>) -&gt; translate test data into numbers  suppose  training data [‘</a:t>
            </a:r>
            <a:r>
              <a:rPr lang="en-IN" dirty="0" err="1"/>
              <a:t>cloudy’,’rainy’,’sunny</a:t>
            </a:r>
            <a:r>
              <a:rPr lang="en-IN" dirty="0"/>
              <a:t>’]  ,[0,1,2]</a:t>
            </a:r>
          </a:p>
          <a:p>
            <a:r>
              <a:rPr lang="en-IN" dirty="0"/>
              <a:t>If we use transform on testing data [‘</a:t>
            </a:r>
            <a:r>
              <a:rPr lang="en-IN" dirty="0" err="1"/>
              <a:t>rainy’,’sunny</a:t>
            </a:r>
            <a:r>
              <a:rPr lang="en-IN" dirty="0"/>
              <a:t>’]=[1,2] `, if we use </a:t>
            </a:r>
            <a:r>
              <a:rPr lang="en-IN" dirty="0" err="1"/>
              <a:t>fit_transform</a:t>
            </a:r>
            <a:r>
              <a:rPr lang="en-IN" dirty="0"/>
              <a:t>() it will ruin our data and give o/p [0,1] </a:t>
            </a:r>
            <a:br>
              <a:rPr lang="en-IN" dirty="0"/>
            </a:br>
            <a:endParaRPr lang="en-IN" dirty="0"/>
          </a:p>
          <a:p>
            <a:r>
              <a:rPr lang="en-IN" dirty="0"/>
              <a:t>scaler = </a:t>
            </a:r>
            <a:r>
              <a:rPr lang="en-IN" dirty="0" err="1"/>
              <a:t>MinMaxScaler</a:t>
            </a:r>
            <a:r>
              <a:rPr lang="en-IN" dirty="0"/>
              <a:t>() -&gt; sets up </a:t>
            </a:r>
            <a:r>
              <a:rPr lang="en-IN" dirty="0" err="1"/>
              <a:t>minmaxscaler</a:t>
            </a:r>
            <a:r>
              <a:rPr lang="en-IN" dirty="0"/>
              <a:t> </a:t>
            </a:r>
            <a:br>
              <a:rPr lang="en-IN" dirty="0"/>
            </a:br>
            <a:endParaRPr lang="en-IN" dirty="0"/>
          </a:p>
          <a:p>
            <a:r>
              <a:rPr lang="en-IN" dirty="0" err="1"/>
              <a:t>numeric_features</a:t>
            </a:r>
            <a:r>
              <a:rPr lang="en-IN" dirty="0"/>
              <a:t> = </a:t>
            </a:r>
            <a:r>
              <a:rPr lang="en-IN" dirty="0" err="1"/>
              <a:t>x_train.select_dtypes</a:t>
            </a:r>
            <a:r>
              <a:rPr lang="en-IN" dirty="0"/>
              <a:t>(include=['float64', 'int64']).columns -&gt; select numerical columns for scaling </a:t>
            </a:r>
            <a:br>
              <a:rPr lang="en-IN" dirty="0"/>
            </a:br>
            <a:endParaRPr lang="en-IN" dirty="0"/>
          </a:p>
          <a:p>
            <a:r>
              <a:rPr lang="en-IN" dirty="0" err="1"/>
              <a:t>x_train_ready</a:t>
            </a:r>
            <a:r>
              <a:rPr lang="en-IN" dirty="0"/>
              <a:t> = </a:t>
            </a:r>
            <a:r>
              <a:rPr lang="en-IN" dirty="0" err="1"/>
              <a:t>pd.DataFrame</a:t>
            </a:r>
            <a:r>
              <a:rPr lang="en-IN" dirty="0"/>
              <a:t>(</a:t>
            </a:r>
            <a:r>
              <a:rPr lang="en-IN" dirty="0" err="1"/>
              <a:t>scaler.fit_transform</a:t>
            </a:r>
            <a:r>
              <a:rPr lang="en-IN" dirty="0"/>
              <a:t>(</a:t>
            </a:r>
            <a:r>
              <a:rPr lang="en-IN" dirty="0" err="1"/>
              <a:t>x_train</a:t>
            </a:r>
            <a:r>
              <a:rPr lang="en-IN" dirty="0"/>
              <a:t>[</a:t>
            </a:r>
            <a:r>
              <a:rPr lang="en-IN" dirty="0" err="1"/>
              <a:t>numeric_features</a:t>
            </a:r>
            <a:r>
              <a:rPr lang="en-IN" dirty="0"/>
              <a:t>]), columns=</a:t>
            </a:r>
            <a:r>
              <a:rPr lang="en-IN" dirty="0" err="1"/>
              <a:t>numeric_features</a:t>
            </a:r>
            <a:r>
              <a:rPr lang="en-IN" dirty="0"/>
              <a:t>, index=</a:t>
            </a:r>
            <a:r>
              <a:rPr lang="en-IN" dirty="0" err="1"/>
              <a:t>x_train.index</a:t>
            </a:r>
            <a:r>
              <a:rPr lang="en-IN" dirty="0"/>
              <a:t>) -&gt;fit(learn min max ) and transform(apply that to dataset ) , select numerical columns and reassign indexes so that we don’t lose our indexes</a:t>
            </a:r>
          </a:p>
          <a:p>
            <a:r>
              <a:rPr lang="en-IN" dirty="0" err="1"/>
              <a:t>X_test_ready</a:t>
            </a:r>
            <a:r>
              <a:rPr lang="en-IN" dirty="0"/>
              <a:t> = </a:t>
            </a:r>
            <a:r>
              <a:rPr lang="en-IN" dirty="0" err="1"/>
              <a:t>pd.DataFrame</a:t>
            </a:r>
            <a:r>
              <a:rPr lang="en-IN" dirty="0"/>
              <a:t>(</a:t>
            </a:r>
            <a:r>
              <a:rPr lang="en-IN" dirty="0" err="1"/>
              <a:t>scaler.transform</a:t>
            </a:r>
            <a:r>
              <a:rPr lang="en-IN" dirty="0"/>
              <a:t>(</a:t>
            </a:r>
            <a:r>
              <a:rPr lang="en-IN" dirty="0" err="1"/>
              <a:t>x_test</a:t>
            </a:r>
            <a:r>
              <a:rPr lang="en-IN" dirty="0"/>
              <a:t>[</a:t>
            </a:r>
            <a:r>
              <a:rPr lang="en-IN" dirty="0" err="1"/>
              <a:t>numeric_features</a:t>
            </a:r>
            <a:r>
              <a:rPr lang="en-IN" dirty="0"/>
              <a:t>]), columns=</a:t>
            </a:r>
            <a:r>
              <a:rPr lang="en-IN" dirty="0" err="1"/>
              <a:t>numeric_features</a:t>
            </a:r>
            <a:r>
              <a:rPr lang="en-IN" dirty="0"/>
              <a:t>, index=</a:t>
            </a:r>
            <a:r>
              <a:rPr lang="en-IN" dirty="0" err="1"/>
              <a:t>x_test.index</a:t>
            </a:r>
            <a:r>
              <a:rPr lang="en-IN" dirty="0"/>
              <a:t>)-&gt; learn and transform apply that to dataset ,don’t use fit to avoid data leakage and select numerical columns </a:t>
            </a:r>
          </a:p>
          <a:p>
            <a:endParaRPr lang="en-IN" dirty="0"/>
          </a:p>
        </p:txBody>
      </p:sp>
    </p:spTree>
    <p:extLst>
      <p:ext uri="{BB962C8B-B14F-4D97-AF65-F5344CB8AC3E}">
        <p14:creationId xmlns:p14="http://schemas.microsoft.com/office/powerpoint/2010/main" val="2464134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E323D8-0802-3E2E-4783-A58D95555057}"/>
              </a:ext>
            </a:extLst>
          </p:cNvPr>
          <p:cNvPicPr>
            <a:picLocks noChangeAspect="1"/>
          </p:cNvPicPr>
          <p:nvPr/>
        </p:nvPicPr>
        <p:blipFill>
          <a:blip r:embed="rId2"/>
          <a:stretch>
            <a:fillRect/>
          </a:stretch>
        </p:blipFill>
        <p:spPr>
          <a:xfrm>
            <a:off x="98901" y="865239"/>
            <a:ext cx="11449632" cy="4894718"/>
          </a:xfrm>
          <a:prstGeom prst="rect">
            <a:avLst/>
          </a:prstGeom>
        </p:spPr>
      </p:pic>
    </p:spTree>
    <p:extLst>
      <p:ext uri="{BB962C8B-B14F-4D97-AF65-F5344CB8AC3E}">
        <p14:creationId xmlns:p14="http://schemas.microsoft.com/office/powerpoint/2010/main" val="1822862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9A062F-FA39-E452-6AFC-8EC947F85899}"/>
              </a:ext>
            </a:extLst>
          </p:cNvPr>
          <p:cNvPicPr>
            <a:picLocks noChangeAspect="1"/>
          </p:cNvPicPr>
          <p:nvPr/>
        </p:nvPicPr>
        <p:blipFill>
          <a:blip r:embed="rId2"/>
          <a:stretch>
            <a:fillRect/>
          </a:stretch>
        </p:blipFill>
        <p:spPr>
          <a:xfrm>
            <a:off x="643467" y="1179829"/>
            <a:ext cx="10905066" cy="4498340"/>
          </a:xfrm>
          <a:prstGeom prst="rect">
            <a:avLst/>
          </a:prstGeom>
        </p:spPr>
      </p:pic>
    </p:spTree>
    <p:extLst>
      <p:ext uri="{BB962C8B-B14F-4D97-AF65-F5344CB8AC3E}">
        <p14:creationId xmlns:p14="http://schemas.microsoft.com/office/powerpoint/2010/main" val="3147354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5AD63-687E-FABE-B44C-673E011BA95D}"/>
              </a:ext>
            </a:extLst>
          </p:cNvPr>
          <p:cNvSpPr>
            <a:spLocks noGrp="1"/>
          </p:cNvSpPr>
          <p:nvPr>
            <p:ph type="title"/>
          </p:nvPr>
        </p:nvSpPr>
        <p:spPr/>
        <p:txBody>
          <a:bodyPr/>
          <a:lstStyle/>
          <a:p>
            <a:r>
              <a:rPr lang="en-US" dirty="0"/>
              <a:t>EDA </a:t>
            </a:r>
            <a:endParaRPr lang="en-IN" dirty="0"/>
          </a:p>
        </p:txBody>
      </p:sp>
      <p:sp>
        <p:nvSpPr>
          <p:cNvPr id="3" name="Content Placeholder 2">
            <a:extLst>
              <a:ext uri="{FF2B5EF4-FFF2-40B4-BE49-F238E27FC236}">
                <a16:creationId xmlns:a16="http://schemas.microsoft.com/office/drawing/2014/main" id="{2A111C5F-FF30-CDCC-5F5F-A14F46499FCB}"/>
              </a:ext>
            </a:extLst>
          </p:cNvPr>
          <p:cNvSpPr>
            <a:spLocks noGrp="1"/>
          </p:cNvSpPr>
          <p:nvPr>
            <p:ph idx="1"/>
          </p:nvPr>
        </p:nvSpPr>
        <p:spPr/>
        <p:txBody>
          <a:bodyPr/>
          <a:lstStyle/>
          <a:p>
            <a:pPr marL="0" indent="0">
              <a:buNone/>
            </a:pPr>
            <a:r>
              <a:rPr lang="en-US" dirty="0"/>
              <a:t>  finding correlation between features visualization through libraries like matplotlib and seaborn and uncover trends and patterns </a:t>
            </a:r>
          </a:p>
          <a:p>
            <a:endParaRPr lang="en-IN" dirty="0"/>
          </a:p>
        </p:txBody>
      </p:sp>
    </p:spTree>
    <p:extLst>
      <p:ext uri="{BB962C8B-B14F-4D97-AF65-F5344CB8AC3E}">
        <p14:creationId xmlns:p14="http://schemas.microsoft.com/office/powerpoint/2010/main" val="2892886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15AF31-79BA-EF31-3152-F6A2B7F113A8}"/>
              </a:ext>
            </a:extLst>
          </p:cNvPr>
          <p:cNvSpPr>
            <a:spLocks noGrp="1"/>
          </p:cNvSpPr>
          <p:nvPr>
            <p:ph idx="1"/>
          </p:nvPr>
        </p:nvSpPr>
        <p:spPr>
          <a:xfrm>
            <a:off x="216310" y="167148"/>
            <a:ext cx="11137490" cy="6009815"/>
          </a:xfrm>
        </p:spPr>
        <p:txBody>
          <a:bodyPr>
            <a:normAutofit fontScale="47500" lnSpcReduction="20000"/>
          </a:bodyPr>
          <a:lstStyle/>
          <a:p>
            <a:r>
              <a:rPr lang="en-IN" dirty="0"/>
              <a:t>import </a:t>
            </a:r>
            <a:r>
              <a:rPr lang="en-IN" dirty="0" err="1"/>
              <a:t>matplotlib.pyplot</a:t>
            </a:r>
            <a:r>
              <a:rPr lang="en-IN" dirty="0"/>
              <a:t> as </a:t>
            </a:r>
            <a:r>
              <a:rPr lang="en-IN" dirty="0" err="1"/>
              <a:t>plt</a:t>
            </a:r>
            <a:endParaRPr lang="en-IN" dirty="0"/>
          </a:p>
          <a:p>
            <a:r>
              <a:rPr lang="en-IN" dirty="0"/>
              <a:t>import seaborn as </a:t>
            </a:r>
            <a:r>
              <a:rPr lang="en-IN" dirty="0" err="1"/>
              <a:t>sns</a:t>
            </a:r>
            <a:endParaRPr lang="en-IN" dirty="0"/>
          </a:p>
          <a:p>
            <a:r>
              <a:rPr lang="en-IN" dirty="0" err="1"/>
              <a:t>top_conditions</a:t>
            </a:r>
            <a:r>
              <a:rPr lang="en-IN" dirty="0"/>
              <a:t> = </a:t>
            </a:r>
            <a:r>
              <a:rPr lang="en-IN" dirty="0" err="1"/>
              <a:t>df_cleaned</a:t>
            </a:r>
            <a:r>
              <a:rPr lang="en-IN" dirty="0"/>
              <a:t>['</a:t>
            </a:r>
            <a:r>
              <a:rPr lang="en-IN" dirty="0" err="1"/>
              <a:t>condition_text</a:t>
            </a:r>
            <a:r>
              <a:rPr lang="en-IN" dirty="0"/>
              <a:t>'].</a:t>
            </a:r>
            <a:r>
              <a:rPr lang="en-IN" dirty="0" err="1"/>
              <a:t>value_counts</a:t>
            </a:r>
            <a:r>
              <a:rPr lang="en-IN" dirty="0"/>
              <a:t>().</a:t>
            </a:r>
            <a:r>
              <a:rPr lang="en-IN" dirty="0" err="1"/>
              <a:t>nlargest</a:t>
            </a:r>
            <a:r>
              <a:rPr lang="en-IN" dirty="0"/>
              <a:t>(5).index -&gt; value-counts() each time weather conditions appear  and when we run this code it returns a series sunny:120, rainy:80 when we add index  it returns sunny, rainy etc (return labels) instead of </a:t>
            </a:r>
            <a:r>
              <a:rPr lang="en-IN" dirty="0" err="1"/>
              <a:t>value.counts</a:t>
            </a:r>
            <a:r>
              <a:rPr lang="en-IN" dirty="0"/>
              <a:t>( 150,80) etc </a:t>
            </a:r>
          </a:p>
          <a:p>
            <a:pPr marL="0" indent="0">
              <a:buNone/>
            </a:pPr>
            <a:endParaRPr lang="en-IN" dirty="0"/>
          </a:p>
          <a:p>
            <a:r>
              <a:rPr lang="en-IN" dirty="0" err="1"/>
              <a:t>df_filtered</a:t>
            </a:r>
            <a:r>
              <a:rPr lang="en-IN" dirty="0"/>
              <a:t> = </a:t>
            </a:r>
            <a:r>
              <a:rPr lang="en-IN" dirty="0" err="1"/>
              <a:t>df_cleaned</a:t>
            </a:r>
            <a:r>
              <a:rPr lang="en-IN" dirty="0"/>
              <a:t>[</a:t>
            </a:r>
            <a:r>
              <a:rPr lang="en-IN" dirty="0" err="1"/>
              <a:t>df_cleaned</a:t>
            </a:r>
            <a:r>
              <a:rPr lang="en-IN" dirty="0"/>
              <a:t>['</a:t>
            </a:r>
            <a:r>
              <a:rPr lang="en-IN" dirty="0" err="1"/>
              <a:t>condition_text</a:t>
            </a:r>
            <a:r>
              <a:rPr lang="en-IN" dirty="0"/>
              <a:t>'].</a:t>
            </a:r>
            <a:r>
              <a:rPr lang="en-IN" dirty="0" err="1"/>
              <a:t>isin</a:t>
            </a:r>
            <a:r>
              <a:rPr lang="en-IN" dirty="0"/>
              <a:t>(</a:t>
            </a:r>
            <a:r>
              <a:rPr lang="en-IN" dirty="0" err="1"/>
              <a:t>top_conditions</a:t>
            </a:r>
            <a:r>
              <a:rPr lang="en-IN" dirty="0"/>
              <a:t>)] -&gt; filtering the data first it will return a value of True and False wherever there is True Pandas keep that row and wherever there is False pandas delete that row </a:t>
            </a:r>
          </a:p>
          <a:p>
            <a:r>
              <a:rPr lang="en-IN" dirty="0"/>
              <a:t>print("--- Value counts for top conditions ---")</a:t>
            </a:r>
          </a:p>
          <a:p>
            <a:r>
              <a:rPr lang="en-IN" dirty="0"/>
              <a:t>print(</a:t>
            </a:r>
            <a:r>
              <a:rPr lang="en-IN" dirty="0" err="1"/>
              <a:t>df_filtered</a:t>
            </a:r>
            <a:r>
              <a:rPr lang="en-IN" dirty="0"/>
              <a:t>['</a:t>
            </a:r>
            <a:r>
              <a:rPr lang="en-IN" dirty="0" err="1"/>
              <a:t>condition_text</a:t>
            </a:r>
            <a:r>
              <a:rPr lang="en-IN" dirty="0"/>
              <a:t>'].</a:t>
            </a:r>
            <a:r>
              <a:rPr lang="en-IN" dirty="0" err="1"/>
              <a:t>value_counts</a:t>
            </a:r>
            <a:r>
              <a:rPr lang="en-IN" dirty="0"/>
              <a:t>()) -&gt; returns </a:t>
            </a:r>
            <a:r>
              <a:rPr lang="en-IN" dirty="0" err="1"/>
              <a:t>value.counts</a:t>
            </a:r>
            <a:r>
              <a:rPr lang="en-IN" dirty="0"/>
              <a:t>()</a:t>
            </a:r>
          </a:p>
          <a:p>
            <a:r>
              <a:rPr lang="en-IN" dirty="0" err="1"/>
              <a:t>plt.figure</a:t>
            </a:r>
            <a:r>
              <a:rPr lang="en-IN" dirty="0"/>
              <a:t>(</a:t>
            </a:r>
            <a:r>
              <a:rPr lang="en-IN" dirty="0" err="1"/>
              <a:t>figsize</a:t>
            </a:r>
            <a:r>
              <a:rPr lang="en-IN" dirty="0"/>
              <a:t>=(8, 5))</a:t>
            </a:r>
          </a:p>
          <a:p>
            <a:r>
              <a:rPr lang="en-IN" dirty="0" err="1"/>
              <a:t>sns.countplot</a:t>
            </a:r>
            <a:r>
              <a:rPr lang="en-IN" dirty="0"/>
              <a:t>(</a:t>
            </a:r>
          </a:p>
          <a:p>
            <a:r>
              <a:rPr lang="en-IN" dirty="0"/>
              <a:t>data=</a:t>
            </a:r>
            <a:r>
              <a:rPr lang="en-IN" dirty="0" err="1"/>
              <a:t>df_filtered</a:t>
            </a:r>
            <a:r>
              <a:rPr lang="en-IN" dirty="0"/>
              <a:t>, </a:t>
            </a:r>
          </a:p>
          <a:p>
            <a:r>
              <a:rPr lang="en-IN" dirty="0"/>
              <a:t>    x='</a:t>
            </a:r>
            <a:r>
              <a:rPr lang="en-IN" dirty="0" err="1"/>
              <a:t>condition_text</a:t>
            </a:r>
            <a:r>
              <a:rPr lang="en-IN" dirty="0"/>
              <a:t>', </a:t>
            </a:r>
          </a:p>
          <a:p>
            <a:r>
              <a:rPr lang="en-IN" dirty="0"/>
              <a:t>    palette='Set2', </a:t>
            </a:r>
          </a:p>
          <a:p>
            <a:r>
              <a:rPr lang="en-IN" dirty="0"/>
              <a:t>    order=</a:t>
            </a:r>
            <a:r>
              <a:rPr lang="en-IN" dirty="0" err="1"/>
              <a:t>top_conditions</a:t>
            </a:r>
            <a:endParaRPr lang="en-IN" dirty="0"/>
          </a:p>
          <a:p>
            <a:r>
              <a:rPr lang="en-IN" dirty="0"/>
              <a:t>)</a:t>
            </a:r>
          </a:p>
          <a:p>
            <a:r>
              <a:rPr lang="en-IN" dirty="0" err="1"/>
              <a:t>plt.title</a:t>
            </a:r>
            <a:r>
              <a:rPr lang="en-IN" dirty="0"/>
              <a:t>('Top 5 Weather Categories')</a:t>
            </a:r>
          </a:p>
          <a:p>
            <a:r>
              <a:rPr lang="en-IN" dirty="0" err="1"/>
              <a:t>plt.xlabel</a:t>
            </a:r>
            <a:r>
              <a:rPr lang="en-IN" dirty="0"/>
              <a:t>('Weather Condition')</a:t>
            </a:r>
          </a:p>
          <a:p>
            <a:r>
              <a:rPr lang="en-IN" dirty="0" err="1"/>
              <a:t>plt.ylabel</a:t>
            </a:r>
            <a:r>
              <a:rPr lang="en-IN" dirty="0"/>
              <a:t>('Number of Records')</a:t>
            </a:r>
          </a:p>
          <a:p>
            <a:r>
              <a:rPr lang="en-IN" dirty="0" err="1"/>
              <a:t>plt.xticks</a:t>
            </a:r>
            <a:r>
              <a:rPr lang="en-IN" dirty="0"/>
              <a:t>(rotation=15)   -&gt; rotate x label by 15 degrees so that it looks clean</a:t>
            </a:r>
          </a:p>
          <a:p>
            <a:r>
              <a:rPr lang="en-IN" dirty="0" err="1"/>
              <a:t>plt.tight_layout</a:t>
            </a:r>
            <a:r>
              <a:rPr lang="en-IN" dirty="0"/>
              <a:t>()       _&gt; eliminates overlap , prevents label clipping </a:t>
            </a:r>
          </a:p>
          <a:p>
            <a:r>
              <a:rPr lang="en-IN" dirty="0" err="1"/>
              <a:t>plt.show</a:t>
            </a:r>
            <a:r>
              <a:rPr lang="en-IN" dirty="0"/>
              <a:t>()</a:t>
            </a:r>
          </a:p>
          <a:p>
            <a:endParaRPr lang="en-IN" dirty="0"/>
          </a:p>
        </p:txBody>
      </p:sp>
    </p:spTree>
    <p:extLst>
      <p:ext uri="{BB962C8B-B14F-4D97-AF65-F5344CB8AC3E}">
        <p14:creationId xmlns:p14="http://schemas.microsoft.com/office/powerpoint/2010/main" val="3663220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Content Placeholder 10">
            <a:extLst>
              <a:ext uri="{FF2B5EF4-FFF2-40B4-BE49-F238E27FC236}">
                <a16:creationId xmlns:a16="http://schemas.microsoft.com/office/drawing/2014/main" id="{BDF6BD30-614E-23E9-EFE7-643669351DBC}"/>
              </a:ext>
            </a:extLst>
          </p:cNvPr>
          <p:cNvPicPr>
            <a:picLocks noGrp="1" noChangeAspect="1"/>
          </p:cNvPicPr>
          <p:nvPr>
            <p:ph idx="1"/>
          </p:nvPr>
        </p:nvPicPr>
        <p:blipFill>
          <a:blip r:embed="rId2"/>
          <a:srcRect r="37767" b="1"/>
          <a:stretch>
            <a:fillRect/>
          </a:stretch>
        </p:blipFill>
        <p:spPr>
          <a:xfrm>
            <a:off x="20" y="1282"/>
            <a:ext cx="12191980" cy="6856718"/>
          </a:xfrm>
          <a:prstGeom prst="rect">
            <a:avLst/>
          </a:prstGeom>
        </p:spPr>
      </p:pic>
    </p:spTree>
    <p:extLst>
      <p:ext uri="{BB962C8B-B14F-4D97-AF65-F5344CB8AC3E}">
        <p14:creationId xmlns:p14="http://schemas.microsoft.com/office/powerpoint/2010/main" val="2035094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EA0945-FA0F-2FFA-3471-24F8A0A69FEB}"/>
              </a:ext>
            </a:extLst>
          </p:cNvPr>
          <p:cNvSpPr>
            <a:spLocks noGrp="1"/>
          </p:cNvSpPr>
          <p:nvPr>
            <p:ph type="title"/>
          </p:nvPr>
        </p:nvSpPr>
        <p:spPr>
          <a:xfrm>
            <a:off x="363794" y="483112"/>
            <a:ext cx="10515600" cy="618101"/>
          </a:xfrm>
        </p:spPr>
        <p:txBody>
          <a:bodyPr>
            <a:normAutofit fontScale="90000"/>
          </a:bodyPr>
          <a:lstStyle/>
          <a:p>
            <a:r>
              <a:rPr lang="en-US" dirty="0"/>
              <a:t>Code for boxplot between Temperature and Weather </a:t>
            </a:r>
            <a:endParaRPr lang="en-IN" dirty="0"/>
          </a:p>
        </p:txBody>
      </p:sp>
      <p:sp>
        <p:nvSpPr>
          <p:cNvPr id="3" name="Content Placeholder 2">
            <a:extLst>
              <a:ext uri="{FF2B5EF4-FFF2-40B4-BE49-F238E27FC236}">
                <a16:creationId xmlns:a16="http://schemas.microsoft.com/office/drawing/2014/main" id="{EC0BB8B8-0E5F-B8E8-79D1-7437840D1EA6}"/>
              </a:ext>
            </a:extLst>
          </p:cNvPr>
          <p:cNvSpPr>
            <a:spLocks noGrp="1"/>
          </p:cNvSpPr>
          <p:nvPr>
            <p:ph idx="4294967295"/>
          </p:nvPr>
        </p:nvSpPr>
        <p:spPr>
          <a:xfrm>
            <a:off x="147484" y="1554060"/>
            <a:ext cx="10515600" cy="5959475"/>
          </a:xfrm>
        </p:spPr>
        <p:txBody>
          <a:bodyPr>
            <a:normAutofit fontScale="55000" lnSpcReduction="20000"/>
          </a:bodyPr>
          <a:lstStyle/>
          <a:p>
            <a:r>
              <a:rPr lang="en-IN" dirty="0"/>
              <a:t>import </a:t>
            </a:r>
            <a:r>
              <a:rPr lang="en-IN" dirty="0" err="1"/>
              <a:t>matplotlib.pyplot</a:t>
            </a:r>
            <a:r>
              <a:rPr lang="en-IN" dirty="0"/>
              <a:t> as </a:t>
            </a:r>
            <a:r>
              <a:rPr lang="en-IN" dirty="0" err="1"/>
              <a:t>plt</a:t>
            </a:r>
            <a:endParaRPr lang="en-IN" dirty="0"/>
          </a:p>
          <a:p>
            <a:r>
              <a:rPr lang="en-IN" dirty="0"/>
              <a:t>import seaborn as </a:t>
            </a:r>
            <a:r>
              <a:rPr lang="en-IN" dirty="0" err="1"/>
              <a:t>sns</a:t>
            </a:r>
            <a:endParaRPr lang="en-IN" dirty="0"/>
          </a:p>
          <a:p>
            <a:r>
              <a:rPr lang="en-IN" dirty="0" err="1"/>
              <a:t>top_conditions</a:t>
            </a:r>
            <a:r>
              <a:rPr lang="en-IN" dirty="0"/>
              <a:t> = </a:t>
            </a:r>
            <a:r>
              <a:rPr lang="en-IN" dirty="0" err="1"/>
              <a:t>df_cleaned</a:t>
            </a:r>
            <a:r>
              <a:rPr lang="en-IN" dirty="0"/>
              <a:t>['</a:t>
            </a:r>
            <a:r>
              <a:rPr lang="en-IN" dirty="0" err="1"/>
              <a:t>condition_text</a:t>
            </a:r>
            <a:r>
              <a:rPr lang="en-IN" dirty="0"/>
              <a:t>'].</a:t>
            </a:r>
            <a:r>
              <a:rPr lang="en-IN" dirty="0" err="1"/>
              <a:t>value_counts</a:t>
            </a:r>
            <a:r>
              <a:rPr lang="en-IN" dirty="0"/>
              <a:t>().</a:t>
            </a:r>
            <a:r>
              <a:rPr lang="en-IN" dirty="0" err="1"/>
              <a:t>nlargest</a:t>
            </a:r>
            <a:r>
              <a:rPr lang="en-IN" dirty="0"/>
              <a:t>(5).index –&gt;same things returns the index labels and without their </a:t>
            </a:r>
            <a:r>
              <a:rPr lang="en-IN" dirty="0" err="1"/>
              <a:t>value_counts</a:t>
            </a:r>
            <a:r>
              <a:rPr lang="en-IN" dirty="0"/>
              <a:t> frequency</a:t>
            </a:r>
          </a:p>
          <a:p>
            <a:r>
              <a:rPr lang="en-IN" dirty="0" err="1"/>
              <a:t>df_filtered</a:t>
            </a:r>
            <a:r>
              <a:rPr lang="en-IN" dirty="0"/>
              <a:t> = </a:t>
            </a:r>
            <a:r>
              <a:rPr lang="en-IN" dirty="0" err="1"/>
              <a:t>df_cleaned</a:t>
            </a:r>
            <a:r>
              <a:rPr lang="en-IN" dirty="0"/>
              <a:t>[</a:t>
            </a:r>
            <a:r>
              <a:rPr lang="en-IN" dirty="0" err="1"/>
              <a:t>df_cleaned</a:t>
            </a:r>
            <a:r>
              <a:rPr lang="en-IN" dirty="0"/>
              <a:t>['</a:t>
            </a:r>
            <a:r>
              <a:rPr lang="en-IN" dirty="0" err="1"/>
              <a:t>condition_text</a:t>
            </a:r>
            <a:r>
              <a:rPr lang="en-IN" dirty="0"/>
              <a:t>'].</a:t>
            </a:r>
            <a:r>
              <a:rPr lang="en-IN" dirty="0" err="1"/>
              <a:t>isin</a:t>
            </a:r>
            <a:r>
              <a:rPr lang="en-IN" dirty="0"/>
              <a:t>(</a:t>
            </a:r>
            <a:r>
              <a:rPr lang="en-IN" dirty="0" err="1"/>
              <a:t>top_conditions</a:t>
            </a:r>
            <a:r>
              <a:rPr lang="en-IN" dirty="0"/>
              <a:t>)]-&gt; check true or false and return filtered row</a:t>
            </a:r>
          </a:p>
          <a:p>
            <a:r>
              <a:rPr lang="en-IN" dirty="0" err="1"/>
              <a:t>plt.figure</a:t>
            </a:r>
            <a:r>
              <a:rPr lang="en-IN" dirty="0"/>
              <a:t>(</a:t>
            </a:r>
            <a:r>
              <a:rPr lang="en-IN" dirty="0" err="1"/>
              <a:t>figsize</a:t>
            </a:r>
            <a:r>
              <a:rPr lang="en-IN" dirty="0"/>
              <a:t>=(9, 5))</a:t>
            </a:r>
          </a:p>
          <a:p>
            <a:r>
              <a:rPr lang="en-IN" dirty="0" err="1"/>
              <a:t>sns.boxplot</a:t>
            </a:r>
            <a:r>
              <a:rPr lang="en-IN" dirty="0"/>
              <a:t>(</a:t>
            </a:r>
          </a:p>
          <a:p>
            <a:r>
              <a:rPr lang="en-IN" dirty="0"/>
              <a:t>    data=</a:t>
            </a:r>
            <a:r>
              <a:rPr lang="en-IN" dirty="0" err="1"/>
              <a:t>df_filtered</a:t>
            </a:r>
            <a:r>
              <a:rPr lang="en-IN" dirty="0"/>
              <a:t>, </a:t>
            </a:r>
          </a:p>
          <a:p>
            <a:r>
              <a:rPr lang="en-IN" dirty="0"/>
              <a:t>    x='</a:t>
            </a:r>
            <a:r>
              <a:rPr lang="en-IN" dirty="0" err="1"/>
              <a:t>condition_text</a:t>
            </a:r>
            <a:r>
              <a:rPr lang="en-IN" dirty="0"/>
              <a:t>', </a:t>
            </a:r>
          </a:p>
          <a:p>
            <a:r>
              <a:rPr lang="en-IN" dirty="0"/>
              <a:t>    y='</a:t>
            </a:r>
            <a:r>
              <a:rPr lang="en-IN" dirty="0" err="1"/>
              <a:t>temperature_celsius</a:t>
            </a:r>
            <a:r>
              <a:rPr lang="en-IN" dirty="0"/>
              <a:t>', </a:t>
            </a:r>
          </a:p>
          <a:p>
            <a:r>
              <a:rPr lang="en-IN" dirty="0"/>
              <a:t>    palette='</a:t>
            </a:r>
            <a:r>
              <a:rPr lang="en-IN" dirty="0" err="1"/>
              <a:t>coolwarm</a:t>
            </a:r>
            <a:r>
              <a:rPr lang="en-IN" dirty="0"/>
              <a:t>',</a:t>
            </a:r>
          </a:p>
          <a:p>
            <a:r>
              <a:rPr lang="en-IN" dirty="0"/>
              <a:t>    order=</a:t>
            </a:r>
            <a:r>
              <a:rPr lang="en-IN" dirty="0" err="1"/>
              <a:t>top_conditions</a:t>
            </a:r>
            <a:r>
              <a:rPr lang="en-IN" dirty="0"/>
              <a:t>  </a:t>
            </a:r>
          </a:p>
          <a:p>
            <a:r>
              <a:rPr lang="en-IN" dirty="0"/>
              <a:t>)</a:t>
            </a:r>
          </a:p>
          <a:p>
            <a:r>
              <a:rPr lang="en-IN" dirty="0" err="1"/>
              <a:t>plt.title</a:t>
            </a:r>
            <a:r>
              <a:rPr lang="en-IN" dirty="0"/>
              <a:t>('Temperature Ranges Across Top 5 Weather Conditions')</a:t>
            </a:r>
          </a:p>
          <a:p>
            <a:r>
              <a:rPr lang="en-IN" dirty="0" err="1"/>
              <a:t>plt.xlabel</a:t>
            </a:r>
            <a:r>
              <a:rPr lang="en-IN" dirty="0"/>
              <a:t>('Weather Condition')</a:t>
            </a:r>
          </a:p>
          <a:p>
            <a:r>
              <a:rPr lang="en-IN" dirty="0" err="1"/>
              <a:t>plt.ylabel</a:t>
            </a:r>
            <a:r>
              <a:rPr lang="en-IN" dirty="0"/>
              <a:t>('Temperature (°C)')</a:t>
            </a:r>
          </a:p>
          <a:p>
            <a:r>
              <a:rPr lang="en-IN" dirty="0" err="1"/>
              <a:t>plt.xticks</a:t>
            </a:r>
            <a:r>
              <a:rPr lang="en-IN" dirty="0"/>
              <a:t>(rotation=15)   </a:t>
            </a:r>
          </a:p>
          <a:p>
            <a:r>
              <a:rPr lang="en-IN" dirty="0" err="1"/>
              <a:t>plt.tight_layout</a:t>
            </a:r>
            <a:r>
              <a:rPr lang="en-IN" dirty="0"/>
              <a:t>()        </a:t>
            </a:r>
          </a:p>
          <a:p>
            <a:r>
              <a:rPr lang="en-IN" dirty="0" err="1"/>
              <a:t>plt.show</a:t>
            </a:r>
            <a:r>
              <a:rPr lang="en-IN" dirty="0"/>
              <a:t>()</a:t>
            </a:r>
          </a:p>
          <a:p>
            <a:endParaRPr lang="en-IN" dirty="0"/>
          </a:p>
        </p:txBody>
      </p:sp>
    </p:spTree>
    <p:extLst>
      <p:ext uri="{BB962C8B-B14F-4D97-AF65-F5344CB8AC3E}">
        <p14:creationId xmlns:p14="http://schemas.microsoft.com/office/powerpoint/2010/main" val="1974064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793DA437-B490-6187-399A-44BE668CF126}"/>
              </a:ext>
            </a:extLst>
          </p:cNvPr>
          <p:cNvPicPr>
            <a:picLocks noGrp="1" noChangeAspect="1"/>
          </p:cNvPicPr>
          <p:nvPr>
            <p:ph idx="1"/>
          </p:nvPr>
        </p:nvPicPr>
        <p:blipFill>
          <a:blip r:embed="rId2"/>
          <a:srcRect r="47990" b="-1"/>
          <a:stretch>
            <a:fillRect/>
          </a:stretch>
        </p:blipFill>
        <p:spPr>
          <a:xfrm>
            <a:off x="20" y="1282"/>
            <a:ext cx="12191980" cy="6856718"/>
          </a:xfrm>
          <a:prstGeom prst="rect">
            <a:avLst/>
          </a:prstGeom>
        </p:spPr>
      </p:pic>
    </p:spTree>
    <p:extLst>
      <p:ext uri="{BB962C8B-B14F-4D97-AF65-F5344CB8AC3E}">
        <p14:creationId xmlns:p14="http://schemas.microsoft.com/office/powerpoint/2010/main" val="3618160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D5E1FB-A4E2-F76C-7439-42D278F3C11D}"/>
              </a:ext>
            </a:extLst>
          </p:cNvPr>
          <p:cNvSpPr>
            <a:spLocks noGrp="1"/>
          </p:cNvSpPr>
          <p:nvPr>
            <p:ph type="title"/>
          </p:nvPr>
        </p:nvSpPr>
        <p:spPr/>
        <p:txBody>
          <a:bodyPr/>
          <a:lstStyle/>
          <a:p>
            <a:r>
              <a:rPr lang="en-US" dirty="0"/>
              <a:t>Code for Heatmap of correlation between numerical columns</a:t>
            </a:r>
            <a:endParaRPr lang="en-IN" dirty="0"/>
          </a:p>
        </p:txBody>
      </p:sp>
      <p:sp>
        <p:nvSpPr>
          <p:cNvPr id="3" name="Content Placeholder 2">
            <a:extLst>
              <a:ext uri="{FF2B5EF4-FFF2-40B4-BE49-F238E27FC236}">
                <a16:creationId xmlns:a16="http://schemas.microsoft.com/office/drawing/2014/main" id="{B62D0114-58AC-D1D7-9EDF-687DC0A427A0}"/>
              </a:ext>
            </a:extLst>
          </p:cNvPr>
          <p:cNvSpPr>
            <a:spLocks noGrp="1"/>
          </p:cNvSpPr>
          <p:nvPr>
            <p:ph idx="4294967295"/>
          </p:nvPr>
        </p:nvSpPr>
        <p:spPr>
          <a:xfrm>
            <a:off x="393290" y="2141537"/>
            <a:ext cx="10515600" cy="4351338"/>
          </a:xfrm>
        </p:spPr>
        <p:txBody>
          <a:bodyPr>
            <a:normAutofit/>
          </a:bodyPr>
          <a:lstStyle/>
          <a:p>
            <a:r>
              <a:rPr lang="en-IN" sz="1800" dirty="0" err="1"/>
              <a:t>numeric_data</a:t>
            </a:r>
            <a:r>
              <a:rPr lang="en-IN" sz="1800" dirty="0"/>
              <a:t> = </a:t>
            </a:r>
            <a:r>
              <a:rPr lang="en-IN" sz="1800" dirty="0" err="1"/>
              <a:t>df_cleaned.select_dtypes</a:t>
            </a:r>
            <a:r>
              <a:rPr lang="en-IN" sz="1800" dirty="0"/>
              <a:t>(include=['float64', 'int64'])</a:t>
            </a:r>
          </a:p>
          <a:p>
            <a:r>
              <a:rPr lang="en-IN" sz="1800" dirty="0" err="1"/>
              <a:t>plt.figure</a:t>
            </a:r>
            <a:r>
              <a:rPr lang="en-IN" sz="1800" dirty="0"/>
              <a:t>(</a:t>
            </a:r>
            <a:r>
              <a:rPr lang="en-IN" sz="1800" dirty="0" err="1"/>
              <a:t>figsize</a:t>
            </a:r>
            <a:r>
              <a:rPr lang="en-IN" sz="1800" dirty="0"/>
              <a:t>=(9, 7))</a:t>
            </a:r>
          </a:p>
          <a:p>
            <a:r>
              <a:rPr lang="en-IN" sz="1800" dirty="0" err="1"/>
              <a:t>sns.heatmap</a:t>
            </a:r>
            <a:r>
              <a:rPr lang="en-IN" sz="1800" dirty="0"/>
              <a:t>(</a:t>
            </a:r>
            <a:r>
              <a:rPr lang="en-IN" sz="1800" dirty="0" err="1"/>
              <a:t>numeric_data.corr</a:t>
            </a:r>
            <a:r>
              <a:rPr lang="en-IN" sz="1800" dirty="0"/>
              <a:t>(), </a:t>
            </a:r>
            <a:r>
              <a:rPr lang="en-IN" sz="1800" dirty="0" err="1"/>
              <a:t>annot</a:t>
            </a:r>
            <a:r>
              <a:rPr lang="en-IN" sz="1800" dirty="0"/>
              <a:t>=False, </a:t>
            </a:r>
            <a:r>
              <a:rPr lang="en-IN" sz="1800" dirty="0" err="1"/>
              <a:t>cmap</a:t>
            </a:r>
            <a:r>
              <a:rPr lang="en-IN" sz="1800" dirty="0"/>
              <a:t>='</a:t>
            </a:r>
            <a:r>
              <a:rPr lang="en-IN" sz="1800" dirty="0" err="1"/>
              <a:t>bwr</a:t>
            </a:r>
            <a:r>
              <a:rPr lang="en-IN" sz="1800" dirty="0"/>
              <a:t>', </a:t>
            </a:r>
            <a:r>
              <a:rPr lang="en-IN" sz="1800" dirty="0" err="1"/>
              <a:t>fmt</a:t>
            </a:r>
            <a:r>
              <a:rPr lang="en-IN" sz="1800" dirty="0"/>
              <a:t>=".2f", linewidths=0.5) -&gt;</a:t>
            </a:r>
            <a:r>
              <a:rPr lang="en-IN" sz="1800" dirty="0" err="1"/>
              <a:t>corr</a:t>
            </a:r>
            <a:r>
              <a:rPr lang="en-IN" sz="1800" dirty="0"/>
              <a:t>() correlation between numerical columns ,</a:t>
            </a:r>
            <a:r>
              <a:rPr lang="en-IN" sz="1800" dirty="0" err="1"/>
              <a:t>annot</a:t>
            </a:r>
            <a:r>
              <a:rPr lang="en-IN" sz="1800" dirty="0"/>
              <a:t> writes exact </a:t>
            </a:r>
            <a:r>
              <a:rPr lang="en-IN" sz="1800" dirty="0" err="1"/>
              <a:t>corr</a:t>
            </a:r>
            <a:r>
              <a:rPr lang="en-IN" sz="1800" dirty="0"/>
              <a:t> score , colormap =</a:t>
            </a:r>
            <a:r>
              <a:rPr lang="en-IN" sz="1800" dirty="0" err="1"/>
              <a:t>blackwhitered</a:t>
            </a:r>
            <a:r>
              <a:rPr lang="en-IN" sz="1800" dirty="0"/>
              <a:t> and </a:t>
            </a:r>
            <a:r>
              <a:rPr lang="en-IN" sz="1800" dirty="0" err="1"/>
              <a:t>fmt</a:t>
            </a:r>
            <a:r>
              <a:rPr lang="en-IN" sz="1800" dirty="0"/>
              <a:t> shows decimal place </a:t>
            </a:r>
            <a:r>
              <a:rPr lang="en-IN" sz="1800" dirty="0" err="1"/>
              <a:t>upto</a:t>
            </a:r>
            <a:r>
              <a:rPr lang="en-IN" sz="1800" dirty="0"/>
              <a:t> 2 places and linewidth should be 0.5 </a:t>
            </a:r>
          </a:p>
          <a:p>
            <a:r>
              <a:rPr lang="en-IN" sz="1800" dirty="0" err="1"/>
              <a:t>plt.title</a:t>
            </a:r>
            <a:r>
              <a:rPr lang="en-IN" sz="1800" dirty="0"/>
              <a:t>('Feature Correlation Heatmap')</a:t>
            </a:r>
          </a:p>
          <a:p>
            <a:r>
              <a:rPr lang="en-IN" sz="1800" dirty="0" err="1"/>
              <a:t>plt.show</a:t>
            </a:r>
            <a:r>
              <a:rPr lang="en-IN" sz="1800" dirty="0"/>
              <a:t>()</a:t>
            </a:r>
          </a:p>
          <a:p>
            <a:endParaRPr lang="en-IN" sz="1800" dirty="0"/>
          </a:p>
          <a:p>
            <a:endParaRPr lang="en-IN" dirty="0"/>
          </a:p>
        </p:txBody>
      </p:sp>
    </p:spTree>
    <p:extLst>
      <p:ext uri="{BB962C8B-B14F-4D97-AF65-F5344CB8AC3E}">
        <p14:creationId xmlns:p14="http://schemas.microsoft.com/office/powerpoint/2010/main" val="2202699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BF97471-CF3F-9DE7-DE58-FD7306F52688}"/>
              </a:ext>
            </a:extLst>
          </p:cNvPr>
          <p:cNvPicPr>
            <a:picLocks noGrp="1" noChangeAspect="1"/>
          </p:cNvPicPr>
          <p:nvPr>
            <p:ph idx="4294967295"/>
          </p:nvPr>
        </p:nvPicPr>
        <p:blipFill>
          <a:blip r:embed="rId2"/>
          <a:srcRect r="32877" b="1"/>
          <a:stretch>
            <a:fillRect/>
          </a:stretch>
        </p:blipFill>
        <p:spPr>
          <a:xfrm>
            <a:off x="0" y="1588"/>
            <a:ext cx="12192000" cy="6856412"/>
          </a:xfrm>
          <a:prstGeom prst="rect">
            <a:avLst/>
          </a:prstGeom>
        </p:spPr>
      </p:pic>
    </p:spTree>
    <p:extLst>
      <p:ext uri="{BB962C8B-B14F-4D97-AF65-F5344CB8AC3E}">
        <p14:creationId xmlns:p14="http://schemas.microsoft.com/office/powerpoint/2010/main" val="2622689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6A5A7-F451-EA95-7DFA-E787D8A5C774}"/>
              </a:ext>
            </a:extLst>
          </p:cNvPr>
          <p:cNvSpPr>
            <a:spLocks noGrp="1"/>
          </p:cNvSpPr>
          <p:nvPr>
            <p:ph type="title"/>
          </p:nvPr>
        </p:nvSpPr>
        <p:spPr>
          <a:xfrm>
            <a:off x="521110" y="306132"/>
            <a:ext cx="10515600" cy="618100"/>
          </a:xfrm>
        </p:spPr>
        <p:txBody>
          <a:bodyPr>
            <a:normAutofit fontScale="90000"/>
          </a:bodyPr>
          <a:lstStyle/>
          <a:p>
            <a:r>
              <a:rPr lang="en-US" dirty="0"/>
              <a:t>Code for chart between </a:t>
            </a:r>
            <a:r>
              <a:rPr lang="en-US" dirty="0" err="1"/>
              <a:t>Percipitation</a:t>
            </a:r>
            <a:r>
              <a:rPr lang="en-US" dirty="0"/>
              <a:t> and Weather</a:t>
            </a:r>
            <a:endParaRPr lang="en-IN" dirty="0"/>
          </a:p>
        </p:txBody>
      </p:sp>
      <p:sp>
        <p:nvSpPr>
          <p:cNvPr id="3" name="Content Placeholder 2">
            <a:extLst>
              <a:ext uri="{FF2B5EF4-FFF2-40B4-BE49-F238E27FC236}">
                <a16:creationId xmlns:a16="http://schemas.microsoft.com/office/drawing/2014/main" id="{70CAC59D-9A97-0D67-F83A-395167FD360E}"/>
              </a:ext>
            </a:extLst>
          </p:cNvPr>
          <p:cNvSpPr>
            <a:spLocks noGrp="1"/>
          </p:cNvSpPr>
          <p:nvPr>
            <p:ph idx="4294967295"/>
          </p:nvPr>
        </p:nvSpPr>
        <p:spPr>
          <a:xfrm>
            <a:off x="314632" y="1046162"/>
            <a:ext cx="10515600" cy="5811838"/>
          </a:xfrm>
        </p:spPr>
        <p:txBody>
          <a:bodyPr>
            <a:normAutofit fontScale="55000" lnSpcReduction="20000"/>
          </a:bodyPr>
          <a:lstStyle/>
          <a:p>
            <a:r>
              <a:rPr lang="en-IN" dirty="0"/>
              <a:t>top_10_conditions = </a:t>
            </a:r>
            <a:r>
              <a:rPr lang="en-IN" dirty="0" err="1"/>
              <a:t>df_cleaned</a:t>
            </a:r>
            <a:r>
              <a:rPr lang="en-IN" dirty="0"/>
              <a:t>['</a:t>
            </a:r>
            <a:r>
              <a:rPr lang="en-IN" dirty="0" err="1"/>
              <a:t>condition_text</a:t>
            </a:r>
            <a:r>
              <a:rPr lang="en-IN" dirty="0"/>
              <a:t>'].</a:t>
            </a:r>
            <a:r>
              <a:rPr lang="en-IN" dirty="0" err="1"/>
              <a:t>value_counts</a:t>
            </a:r>
            <a:r>
              <a:rPr lang="en-IN" dirty="0"/>
              <a:t>(). </a:t>
            </a:r>
            <a:r>
              <a:rPr lang="en-IN" dirty="0" err="1"/>
              <a:t>Nlargest</a:t>
            </a:r>
            <a:r>
              <a:rPr lang="en-IN" dirty="0"/>
              <a:t>(10).index -&gt; filters as same as previous</a:t>
            </a:r>
          </a:p>
          <a:p>
            <a:r>
              <a:rPr lang="en-IN" dirty="0"/>
              <a:t>df_top_10 = </a:t>
            </a:r>
            <a:r>
              <a:rPr lang="en-IN" dirty="0" err="1"/>
              <a:t>df_cleaned</a:t>
            </a:r>
            <a:r>
              <a:rPr lang="en-IN" dirty="0"/>
              <a:t>[</a:t>
            </a:r>
            <a:r>
              <a:rPr lang="en-IN" dirty="0" err="1"/>
              <a:t>df_cleaned</a:t>
            </a:r>
            <a:r>
              <a:rPr lang="en-IN" dirty="0"/>
              <a:t>['</a:t>
            </a:r>
            <a:r>
              <a:rPr lang="en-IN" dirty="0" err="1"/>
              <a:t>condition_text</a:t>
            </a:r>
            <a:r>
              <a:rPr lang="en-IN" dirty="0"/>
              <a:t>'].</a:t>
            </a:r>
            <a:r>
              <a:rPr lang="en-IN" dirty="0" err="1"/>
              <a:t>isin</a:t>
            </a:r>
            <a:r>
              <a:rPr lang="en-IN" dirty="0"/>
              <a:t>(top_10_conditions)] -&gt;filters as same as previous</a:t>
            </a:r>
          </a:p>
          <a:p>
            <a:r>
              <a:rPr lang="en-IN" dirty="0" err="1"/>
              <a:t>plt.figure</a:t>
            </a:r>
            <a:r>
              <a:rPr lang="en-IN" dirty="0"/>
              <a:t>(</a:t>
            </a:r>
            <a:r>
              <a:rPr lang="en-IN" dirty="0" err="1"/>
              <a:t>figsize</a:t>
            </a:r>
            <a:r>
              <a:rPr lang="en-IN" dirty="0"/>
              <a:t>=(12, 6))</a:t>
            </a:r>
          </a:p>
          <a:p>
            <a:r>
              <a:rPr lang="en-IN" dirty="0" err="1"/>
              <a:t>sns.barplot</a:t>
            </a:r>
            <a:r>
              <a:rPr lang="en-IN" dirty="0"/>
              <a:t>(</a:t>
            </a:r>
          </a:p>
          <a:p>
            <a:r>
              <a:rPr lang="en-IN" dirty="0"/>
              <a:t>    data=df_top_10,</a:t>
            </a:r>
          </a:p>
          <a:p>
            <a:r>
              <a:rPr lang="en-IN" dirty="0"/>
              <a:t>    x='</a:t>
            </a:r>
            <a:r>
              <a:rPr lang="en-IN" dirty="0" err="1"/>
              <a:t>condition_text</a:t>
            </a:r>
            <a:r>
              <a:rPr lang="en-IN" dirty="0"/>
              <a:t>',</a:t>
            </a:r>
          </a:p>
          <a:p>
            <a:r>
              <a:rPr lang="en-IN" dirty="0"/>
              <a:t>    y='</a:t>
            </a:r>
            <a:r>
              <a:rPr lang="en-IN" dirty="0" err="1"/>
              <a:t>precip_mm</a:t>
            </a:r>
            <a:r>
              <a:rPr lang="en-IN" dirty="0"/>
              <a:t>',</a:t>
            </a:r>
          </a:p>
          <a:p>
            <a:r>
              <a:rPr lang="en-IN" dirty="0"/>
              <a:t>    hue='</a:t>
            </a:r>
            <a:r>
              <a:rPr lang="en-IN" dirty="0" err="1"/>
              <a:t>condition_text</a:t>
            </a:r>
            <a:r>
              <a:rPr lang="en-IN" dirty="0"/>
              <a:t>',</a:t>
            </a:r>
          </a:p>
          <a:p>
            <a:r>
              <a:rPr lang="en-IN" dirty="0"/>
              <a:t>    legend=False,</a:t>
            </a:r>
          </a:p>
          <a:p>
            <a:r>
              <a:rPr lang="en-IN" dirty="0"/>
              <a:t>    palette='</a:t>
            </a:r>
            <a:r>
              <a:rPr lang="en-IN" dirty="0" err="1"/>
              <a:t>Blues_r</a:t>
            </a:r>
            <a:r>
              <a:rPr lang="en-IN" dirty="0"/>
              <a:t>',</a:t>
            </a:r>
          </a:p>
          <a:p>
            <a:r>
              <a:rPr lang="en-IN" dirty="0"/>
              <a:t>    </a:t>
            </a:r>
            <a:r>
              <a:rPr lang="en-IN" dirty="0" err="1"/>
              <a:t>errorbar</a:t>
            </a:r>
            <a:r>
              <a:rPr lang="en-IN" dirty="0"/>
              <a:t>=None</a:t>
            </a:r>
          </a:p>
          <a:p>
            <a:r>
              <a:rPr lang="en-IN" dirty="0"/>
              <a:t>)</a:t>
            </a:r>
          </a:p>
          <a:p>
            <a:r>
              <a:rPr lang="en-IN" dirty="0" err="1"/>
              <a:t>plt.title</a:t>
            </a:r>
            <a:r>
              <a:rPr lang="en-IN" dirty="0"/>
              <a:t>('Average Precipitation (</a:t>
            </a:r>
            <a:r>
              <a:rPr lang="en-IN" dirty="0" err="1"/>
              <a:t>Millimeters</a:t>
            </a:r>
            <a:r>
              <a:rPr lang="en-IN" dirty="0"/>
              <a:t>) for Top 10 Weather Conditions', </a:t>
            </a:r>
            <a:r>
              <a:rPr lang="en-IN" dirty="0" err="1"/>
              <a:t>fontsize</a:t>
            </a:r>
            <a:r>
              <a:rPr lang="en-IN" dirty="0"/>
              <a:t>=14, </a:t>
            </a:r>
            <a:r>
              <a:rPr lang="en-IN" dirty="0" err="1"/>
              <a:t>fontweight</a:t>
            </a:r>
            <a:r>
              <a:rPr lang="en-IN" dirty="0"/>
              <a:t>='bold')</a:t>
            </a:r>
          </a:p>
          <a:p>
            <a:r>
              <a:rPr lang="en-IN" dirty="0" err="1"/>
              <a:t>plt.xlabel</a:t>
            </a:r>
            <a:r>
              <a:rPr lang="en-IN" dirty="0"/>
              <a:t>('Weather Condition', </a:t>
            </a:r>
            <a:r>
              <a:rPr lang="en-IN" dirty="0" err="1"/>
              <a:t>fontsize</a:t>
            </a:r>
            <a:r>
              <a:rPr lang="en-IN" dirty="0"/>
              <a:t>=12)</a:t>
            </a:r>
          </a:p>
          <a:p>
            <a:r>
              <a:rPr lang="en-IN" dirty="0" err="1"/>
              <a:t>plt.ylabel</a:t>
            </a:r>
            <a:r>
              <a:rPr lang="en-IN" dirty="0"/>
              <a:t>('Average Precipitation (mm)', </a:t>
            </a:r>
            <a:r>
              <a:rPr lang="en-IN" dirty="0" err="1"/>
              <a:t>fontsize</a:t>
            </a:r>
            <a:r>
              <a:rPr lang="en-IN" dirty="0"/>
              <a:t>=12)</a:t>
            </a:r>
          </a:p>
          <a:p>
            <a:r>
              <a:rPr lang="en-IN" dirty="0" err="1"/>
              <a:t>plt.xticks</a:t>
            </a:r>
            <a:r>
              <a:rPr lang="en-IN" dirty="0"/>
              <a:t>(rotation=45, ha='right’) -&gt; ha=‘right’ each word is to the right to the corresponding tick </a:t>
            </a:r>
          </a:p>
          <a:p>
            <a:r>
              <a:rPr lang="en-IN" dirty="0" err="1"/>
              <a:t>plt.tight_layout</a:t>
            </a:r>
            <a:r>
              <a:rPr lang="en-IN" dirty="0"/>
              <a:t>()</a:t>
            </a:r>
          </a:p>
          <a:p>
            <a:endParaRPr lang="en-IN" dirty="0"/>
          </a:p>
        </p:txBody>
      </p:sp>
    </p:spTree>
    <p:extLst>
      <p:ext uri="{BB962C8B-B14F-4D97-AF65-F5344CB8AC3E}">
        <p14:creationId xmlns:p14="http://schemas.microsoft.com/office/powerpoint/2010/main" val="753950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D08148-3C18-ABFF-3D5E-BF1F8011CFC4}"/>
              </a:ext>
            </a:extLst>
          </p:cNvPr>
          <p:cNvPicPr>
            <a:picLocks noGrp="1" noChangeAspect="1"/>
          </p:cNvPicPr>
          <p:nvPr>
            <p:ph idx="4294967295"/>
          </p:nvPr>
        </p:nvPicPr>
        <p:blipFill>
          <a:blip r:embed="rId2"/>
          <a:srcRect l="3799" r="34856" b="-1"/>
          <a:stretch>
            <a:fillRect/>
          </a:stretch>
        </p:blipFill>
        <p:spPr>
          <a:xfrm>
            <a:off x="0" y="1588"/>
            <a:ext cx="12192000" cy="6856412"/>
          </a:xfrm>
          <a:prstGeom prst="rect">
            <a:avLst/>
          </a:prstGeom>
        </p:spPr>
      </p:pic>
    </p:spTree>
    <p:extLst>
      <p:ext uri="{BB962C8B-B14F-4D97-AF65-F5344CB8AC3E}">
        <p14:creationId xmlns:p14="http://schemas.microsoft.com/office/powerpoint/2010/main" val="616699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212F77-4B83-B2AC-BA0E-18CCB9386830}"/>
              </a:ext>
            </a:extLst>
          </p:cNvPr>
          <p:cNvSpPr>
            <a:spLocks noGrp="1"/>
          </p:cNvSpPr>
          <p:nvPr>
            <p:ph type="title"/>
          </p:nvPr>
        </p:nvSpPr>
        <p:spPr/>
        <p:txBody>
          <a:bodyPr/>
          <a:lstStyle/>
          <a:p>
            <a:r>
              <a:rPr lang="en-US" dirty="0"/>
              <a:t>Model Building </a:t>
            </a:r>
            <a:endParaRPr lang="en-IN" dirty="0"/>
          </a:p>
        </p:txBody>
      </p:sp>
      <p:sp>
        <p:nvSpPr>
          <p:cNvPr id="5" name="Content Placeholder 4">
            <a:extLst>
              <a:ext uri="{FF2B5EF4-FFF2-40B4-BE49-F238E27FC236}">
                <a16:creationId xmlns:a16="http://schemas.microsoft.com/office/drawing/2014/main" id="{11BABEB9-9781-A318-3C9F-BDFB59E117FE}"/>
              </a:ext>
            </a:extLst>
          </p:cNvPr>
          <p:cNvSpPr>
            <a:spLocks noGrp="1"/>
          </p:cNvSpPr>
          <p:nvPr>
            <p:ph idx="1"/>
          </p:nvPr>
        </p:nvSpPr>
        <p:spPr/>
        <p:txBody>
          <a:bodyPr/>
          <a:lstStyle/>
          <a:p>
            <a:r>
              <a:rPr lang="en-US" dirty="0"/>
              <a:t>For model building I Didn’t used </a:t>
            </a:r>
            <a:r>
              <a:rPr lang="en-US" dirty="0" err="1"/>
              <a:t>XGBoost</a:t>
            </a:r>
            <a:r>
              <a:rPr lang="en-US" dirty="0"/>
              <a:t>, </a:t>
            </a:r>
            <a:r>
              <a:rPr lang="en-US" dirty="0" err="1"/>
              <a:t>RandomForest</a:t>
            </a:r>
            <a:r>
              <a:rPr lang="en-US" dirty="0"/>
              <a:t>  because they don’t work on time series analysis </a:t>
            </a:r>
          </a:p>
          <a:p>
            <a:r>
              <a:rPr lang="en-US" dirty="0"/>
              <a:t>For time series I used </a:t>
            </a:r>
            <a:r>
              <a:rPr lang="en-US" dirty="0" err="1"/>
              <a:t>AutoARIMA</a:t>
            </a:r>
            <a:r>
              <a:rPr lang="en-US" dirty="0"/>
              <a:t> as it automatically calculates time series data unlike in normal ARIMA where we have to define parameters this saves time </a:t>
            </a:r>
            <a:endParaRPr lang="en-IN" dirty="0"/>
          </a:p>
        </p:txBody>
      </p:sp>
    </p:spTree>
    <p:extLst>
      <p:ext uri="{BB962C8B-B14F-4D97-AF65-F5344CB8AC3E}">
        <p14:creationId xmlns:p14="http://schemas.microsoft.com/office/powerpoint/2010/main" val="1503383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4112D-27A8-D69E-5954-E8672900A2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3CB98A-6F40-9E03-789A-5F4FF25739DC}"/>
              </a:ext>
            </a:extLst>
          </p:cNvPr>
          <p:cNvSpPr>
            <a:spLocks noGrp="1"/>
          </p:cNvSpPr>
          <p:nvPr>
            <p:ph idx="1"/>
          </p:nvPr>
        </p:nvSpPr>
        <p:spPr/>
        <p:txBody>
          <a:bodyPr>
            <a:normAutofit lnSpcReduction="10000"/>
          </a:bodyPr>
          <a:lstStyle/>
          <a:p>
            <a:r>
              <a:rPr lang="en-US" dirty="0"/>
              <a:t>First, I have converted the </a:t>
            </a:r>
            <a:r>
              <a:rPr lang="en-US" dirty="0" err="1"/>
              <a:t>last_updated</a:t>
            </a:r>
            <a:r>
              <a:rPr lang="en-US" dirty="0"/>
              <a:t> data to </a:t>
            </a:r>
            <a:r>
              <a:rPr lang="en-US" dirty="0" err="1"/>
              <a:t>time_series</a:t>
            </a:r>
            <a:endParaRPr lang="en-US" dirty="0"/>
          </a:p>
          <a:p>
            <a:r>
              <a:rPr lang="en-IN" dirty="0"/>
              <a:t>#df['last_updated']=pd.to_datetime(df['last_updated’])-&gt;converts the object (text) into datetime format </a:t>
            </a:r>
          </a:p>
          <a:p>
            <a:r>
              <a:rPr lang="en-IN" dirty="0"/>
              <a:t>#df['last_updated’]</a:t>
            </a:r>
          </a:p>
          <a:p>
            <a:r>
              <a:rPr lang="en-IN" dirty="0"/>
              <a:t>#df.set_index('last_updated',inplace=True)-&gt;turns into index (time-series format)</a:t>
            </a:r>
          </a:p>
          <a:p>
            <a:r>
              <a:rPr lang="en-IN" dirty="0"/>
              <a:t>print(</a:t>
            </a:r>
            <a:r>
              <a:rPr lang="en-IN" dirty="0" err="1"/>
              <a:t>df.index</a:t>
            </a:r>
            <a:r>
              <a:rPr lang="en-IN" dirty="0"/>
              <a:t>)-&gt; print the timeseries as index </a:t>
            </a:r>
          </a:p>
          <a:p>
            <a:r>
              <a:rPr lang="en-IN" dirty="0" err="1"/>
              <a:t>df</a:t>
            </a:r>
            <a:endParaRPr lang="en-IN" dirty="0"/>
          </a:p>
          <a:p>
            <a:pPr marL="0" indent="0">
              <a:buNone/>
            </a:pPr>
            <a:br>
              <a:rPr lang="en-IN" dirty="0"/>
            </a:br>
            <a:endParaRPr lang="en-IN" dirty="0"/>
          </a:p>
          <a:p>
            <a:endParaRPr lang="en-IN" dirty="0"/>
          </a:p>
        </p:txBody>
      </p:sp>
    </p:spTree>
    <p:extLst>
      <p:ext uri="{BB962C8B-B14F-4D97-AF65-F5344CB8AC3E}">
        <p14:creationId xmlns:p14="http://schemas.microsoft.com/office/powerpoint/2010/main" val="3922829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58D212-CEE6-02ED-87DF-C12A388993BA}"/>
              </a:ext>
            </a:extLst>
          </p:cNvPr>
          <p:cNvPicPr>
            <a:picLocks noGrp="1" noChangeAspect="1"/>
          </p:cNvPicPr>
          <p:nvPr>
            <p:ph idx="1"/>
          </p:nvPr>
        </p:nvPicPr>
        <p:blipFill>
          <a:blip r:embed="rId2"/>
          <a:stretch>
            <a:fillRect/>
          </a:stretch>
        </p:blipFill>
        <p:spPr>
          <a:xfrm>
            <a:off x="643467" y="1902290"/>
            <a:ext cx="10905066" cy="3053418"/>
          </a:xfrm>
          <a:prstGeom prst="rect">
            <a:avLst/>
          </a:prstGeom>
        </p:spPr>
      </p:pic>
    </p:spTree>
    <p:extLst>
      <p:ext uri="{BB962C8B-B14F-4D97-AF65-F5344CB8AC3E}">
        <p14:creationId xmlns:p14="http://schemas.microsoft.com/office/powerpoint/2010/main" val="1789696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71639E-ADE1-B934-21EC-5E31BF302EE1}"/>
              </a:ext>
            </a:extLst>
          </p:cNvPr>
          <p:cNvSpPr>
            <a:spLocks noGrp="1"/>
          </p:cNvSpPr>
          <p:nvPr>
            <p:ph type="title"/>
          </p:nvPr>
        </p:nvSpPr>
        <p:spPr>
          <a:xfrm>
            <a:off x="317090" y="131762"/>
            <a:ext cx="10515600" cy="566328"/>
          </a:xfrm>
        </p:spPr>
        <p:txBody>
          <a:bodyPr>
            <a:normAutofit fontScale="90000"/>
          </a:bodyPr>
          <a:lstStyle/>
          <a:p>
            <a:r>
              <a:rPr lang="en-US" dirty="0"/>
              <a:t>Model Building -1 </a:t>
            </a:r>
            <a:endParaRPr lang="en-IN" dirty="0"/>
          </a:p>
        </p:txBody>
      </p:sp>
      <p:sp>
        <p:nvSpPr>
          <p:cNvPr id="5" name="Content Placeholder 4">
            <a:extLst>
              <a:ext uri="{FF2B5EF4-FFF2-40B4-BE49-F238E27FC236}">
                <a16:creationId xmlns:a16="http://schemas.microsoft.com/office/drawing/2014/main" id="{F9B9A9BD-0823-7E04-BF4F-5CD9ECAAABAF}"/>
              </a:ext>
            </a:extLst>
          </p:cNvPr>
          <p:cNvSpPr>
            <a:spLocks noGrp="1"/>
          </p:cNvSpPr>
          <p:nvPr>
            <p:ph idx="1"/>
          </p:nvPr>
        </p:nvSpPr>
        <p:spPr>
          <a:xfrm>
            <a:off x="454743" y="825909"/>
            <a:ext cx="10515600" cy="5494679"/>
          </a:xfrm>
        </p:spPr>
        <p:txBody>
          <a:bodyPr>
            <a:noAutofit/>
          </a:bodyPr>
          <a:lstStyle/>
          <a:p>
            <a:r>
              <a:rPr lang="en-IN" sz="1600" dirty="0"/>
              <a:t>import </a:t>
            </a:r>
            <a:r>
              <a:rPr lang="en-IN" sz="1600" dirty="0" err="1"/>
              <a:t>pmdarima</a:t>
            </a:r>
            <a:r>
              <a:rPr lang="en-IN" sz="1600" dirty="0"/>
              <a:t> as pm  -&gt; imports </a:t>
            </a:r>
            <a:r>
              <a:rPr lang="en-IN" sz="1600" dirty="0" err="1"/>
              <a:t>pmdarima</a:t>
            </a:r>
            <a:r>
              <a:rPr lang="en-IN" sz="1600" dirty="0"/>
              <a:t> library which automates time series forecasting </a:t>
            </a:r>
          </a:p>
          <a:p>
            <a:r>
              <a:rPr lang="en-IN" sz="1600" dirty="0"/>
              <a:t>import pandas as pd  -&gt; imports pandas </a:t>
            </a:r>
          </a:p>
          <a:p>
            <a:r>
              <a:rPr lang="en-IN" sz="1600" dirty="0" err="1"/>
              <a:t>df_vietnam</a:t>
            </a:r>
            <a:r>
              <a:rPr lang="en-IN" sz="1600" dirty="0"/>
              <a:t> = </a:t>
            </a:r>
            <a:r>
              <a:rPr lang="en-IN" sz="1600" dirty="0" err="1"/>
              <a:t>df</a:t>
            </a:r>
            <a:r>
              <a:rPr lang="en-IN" sz="1600" dirty="0"/>
              <a:t>[</a:t>
            </a:r>
            <a:r>
              <a:rPr lang="en-IN" sz="1600" dirty="0" err="1"/>
              <a:t>df</a:t>
            </a:r>
            <a:r>
              <a:rPr lang="en-IN" sz="1600" dirty="0"/>
              <a:t>['country'] == 'Vietnam'][['</a:t>
            </a:r>
            <a:r>
              <a:rPr lang="en-IN" sz="1600" dirty="0" err="1"/>
              <a:t>temperature_celsius</a:t>
            </a:r>
            <a:r>
              <a:rPr lang="en-IN" sz="1600" dirty="0"/>
              <a:t>']].copy() -&gt; selects only those rows containing Vietnam </a:t>
            </a:r>
          </a:p>
          <a:p>
            <a:r>
              <a:rPr lang="en-IN" sz="1600" dirty="0" err="1"/>
              <a:t>df_vietnam</a:t>
            </a:r>
            <a:r>
              <a:rPr lang="en-IN" sz="1600" dirty="0"/>
              <a:t> = </a:t>
            </a:r>
            <a:r>
              <a:rPr lang="en-IN" sz="1600" dirty="0" err="1"/>
              <a:t>df_vietnam.sort_index</a:t>
            </a:r>
            <a:r>
              <a:rPr lang="en-IN" sz="1600" dirty="0"/>
              <a:t>() -&gt; sorts from oldest date to newest date to keep timeseries updated </a:t>
            </a:r>
          </a:p>
          <a:p>
            <a:r>
              <a:rPr lang="en-IN" sz="1600" dirty="0" err="1"/>
              <a:t>df_vietnam</a:t>
            </a:r>
            <a:r>
              <a:rPr lang="en-IN" sz="1600" dirty="0"/>
              <a:t> = </a:t>
            </a:r>
            <a:r>
              <a:rPr lang="en-IN" sz="1600" dirty="0" err="1"/>
              <a:t>df_vietnam</a:t>
            </a:r>
            <a:r>
              <a:rPr lang="en-IN" sz="1600" dirty="0"/>
              <a:t>[~</a:t>
            </a:r>
            <a:r>
              <a:rPr lang="en-IN" sz="1600" dirty="0" err="1"/>
              <a:t>df_vietnam.index.duplicated</a:t>
            </a:r>
            <a:r>
              <a:rPr lang="en-IN" sz="1600" dirty="0"/>
              <a:t>(keep='first’)] -&gt;discard duplicates  and keep=first handle duplicates that have the same timeseries and keeps the rest </a:t>
            </a:r>
            <a:r>
              <a:rPr lang="en-IN" sz="1600" dirty="0" err="1"/>
              <a:t>dupicates</a:t>
            </a:r>
            <a:r>
              <a:rPr lang="en-IN" sz="1600" dirty="0"/>
              <a:t> as flagged </a:t>
            </a:r>
          </a:p>
          <a:p>
            <a:r>
              <a:rPr lang="en-IN" sz="1600" dirty="0" err="1"/>
              <a:t>train_data</a:t>
            </a:r>
            <a:r>
              <a:rPr lang="en-IN" sz="1600" dirty="0"/>
              <a:t> = </a:t>
            </a:r>
            <a:r>
              <a:rPr lang="en-IN" sz="1600" dirty="0" err="1"/>
              <a:t>df_vietnam.iloc</a:t>
            </a:r>
            <a:r>
              <a:rPr lang="en-IN" sz="1600" dirty="0"/>
              <a:t>[:-5]  -&gt;keeps until the final 5 rows </a:t>
            </a:r>
          </a:p>
          <a:p>
            <a:r>
              <a:rPr lang="en-IN" sz="1600" dirty="0" err="1"/>
              <a:t>actual_answers</a:t>
            </a:r>
            <a:r>
              <a:rPr lang="en-IN" sz="1600" dirty="0"/>
              <a:t> = </a:t>
            </a:r>
            <a:r>
              <a:rPr lang="en-IN" sz="1600" dirty="0" err="1"/>
              <a:t>df_vietnam.iloc</a:t>
            </a:r>
            <a:r>
              <a:rPr lang="en-IN" sz="1600" dirty="0"/>
              <a:t>[-5:]   -&gt;grabs only the final 5 rows </a:t>
            </a:r>
          </a:p>
          <a:p>
            <a:r>
              <a:rPr lang="en-IN" sz="1600" dirty="0" err="1"/>
              <a:t>model_test</a:t>
            </a:r>
            <a:r>
              <a:rPr lang="en-IN" sz="1600" dirty="0"/>
              <a:t> = </a:t>
            </a:r>
            <a:r>
              <a:rPr lang="en-IN" sz="1600" dirty="0" err="1"/>
              <a:t>pm.auto_arima</a:t>
            </a:r>
            <a:r>
              <a:rPr lang="en-IN" sz="1600" dirty="0"/>
              <a:t>(</a:t>
            </a:r>
            <a:r>
              <a:rPr lang="en-IN" sz="1600" dirty="0" err="1"/>
              <a:t>train_data</a:t>
            </a:r>
            <a:r>
              <a:rPr lang="en-IN" sz="1600" dirty="0"/>
              <a:t>, seasonal=False, stepwise=True)</a:t>
            </a:r>
          </a:p>
          <a:p>
            <a:r>
              <a:rPr lang="en-IN" sz="1600" dirty="0"/>
              <a:t>-&gt;</a:t>
            </a:r>
            <a:r>
              <a:rPr lang="en-IN" sz="1600" dirty="0" err="1"/>
              <a:t>Auto_arima</a:t>
            </a:r>
            <a:r>
              <a:rPr lang="en-IN" sz="1600" dirty="0"/>
              <a:t> tests different models automated search algo that acts like automated seasonal=false don’t look for </a:t>
            </a:r>
            <a:r>
              <a:rPr lang="en-IN" sz="1600" dirty="0" err="1"/>
              <a:t>comples</a:t>
            </a:r>
            <a:r>
              <a:rPr lang="en-IN" sz="1600" dirty="0"/>
              <a:t> repeating seasonal cycles . stepwise=True use an intelligent shortcut to find math formula</a:t>
            </a:r>
          </a:p>
          <a:p>
            <a:r>
              <a:rPr lang="en-IN" sz="1600" dirty="0" err="1"/>
              <a:t>test_predictions</a:t>
            </a:r>
            <a:r>
              <a:rPr lang="en-IN" sz="1600" dirty="0"/>
              <a:t> = </a:t>
            </a:r>
            <a:r>
              <a:rPr lang="en-IN" sz="1600" dirty="0" err="1"/>
              <a:t>model_test.predict</a:t>
            </a:r>
            <a:r>
              <a:rPr lang="en-IN" sz="1600" dirty="0"/>
              <a:t>(</a:t>
            </a:r>
            <a:r>
              <a:rPr lang="en-IN" sz="1600" dirty="0" err="1"/>
              <a:t>n_periods</a:t>
            </a:r>
            <a:r>
              <a:rPr lang="en-IN" sz="1600" dirty="0"/>
              <a:t>=5)-&gt;predict the model and for 5 periods</a:t>
            </a:r>
          </a:p>
          <a:p>
            <a:r>
              <a:rPr lang="en-IN" sz="1600" dirty="0" err="1"/>
              <a:t>average_degree_error</a:t>
            </a:r>
            <a:r>
              <a:rPr lang="en-IN" sz="1600" dirty="0"/>
              <a:t> = abs(</a:t>
            </a:r>
            <a:r>
              <a:rPr lang="en-IN" sz="1600" dirty="0" err="1"/>
              <a:t>actual_answers</a:t>
            </a:r>
            <a:r>
              <a:rPr lang="en-IN" sz="1600" dirty="0"/>
              <a:t>['</a:t>
            </a:r>
            <a:r>
              <a:rPr lang="en-IN" sz="1600" dirty="0" err="1"/>
              <a:t>temperature_celsius</a:t>
            </a:r>
            <a:r>
              <a:rPr lang="en-IN" sz="1600" dirty="0"/>
              <a:t>'].values- </a:t>
            </a:r>
            <a:r>
              <a:rPr lang="en-IN" sz="1600" dirty="0" err="1"/>
              <a:t>test_predictions.values</a:t>
            </a:r>
            <a:r>
              <a:rPr lang="en-IN" sz="1600" dirty="0"/>
              <a:t>).mean() -&gt;abs clears out negative sign </a:t>
            </a:r>
          </a:p>
          <a:p>
            <a:r>
              <a:rPr lang="en-IN" sz="1600" dirty="0" err="1"/>
              <a:t>average_degree_error</a:t>
            </a:r>
            <a:r>
              <a:rPr lang="en-IN" sz="1600" dirty="0"/>
              <a:t> -&gt;</a:t>
            </a:r>
          </a:p>
          <a:p>
            <a:pPr marL="0" indent="0">
              <a:buNone/>
            </a:pPr>
            <a:endParaRPr lang="en-IN" sz="1200" dirty="0"/>
          </a:p>
          <a:p>
            <a:pPr marL="0" indent="0">
              <a:buNone/>
            </a:pPr>
            <a:br>
              <a:rPr lang="en-IN" sz="1600" dirty="0"/>
            </a:br>
            <a:endParaRPr lang="en-IN" sz="1600" dirty="0"/>
          </a:p>
          <a:p>
            <a:pPr marL="0" indent="0">
              <a:buNone/>
            </a:pPr>
            <a:endParaRPr lang="en-IN" sz="1600" dirty="0"/>
          </a:p>
        </p:txBody>
      </p:sp>
    </p:spTree>
    <p:extLst>
      <p:ext uri="{BB962C8B-B14F-4D97-AF65-F5344CB8AC3E}">
        <p14:creationId xmlns:p14="http://schemas.microsoft.com/office/powerpoint/2010/main" val="2790853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9FD86-DAE0-5127-0843-71CCB111CE54}"/>
              </a:ext>
            </a:extLst>
          </p:cNvPr>
          <p:cNvSpPr>
            <a:spLocks noGrp="1"/>
          </p:cNvSpPr>
          <p:nvPr>
            <p:ph idx="4294967295"/>
          </p:nvPr>
        </p:nvSpPr>
        <p:spPr>
          <a:xfrm>
            <a:off x="0" y="1825625"/>
            <a:ext cx="10515600" cy="4351338"/>
          </a:xfrm>
        </p:spPr>
        <p:txBody>
          <a:bodyPr/>
          <a:lstStyle/>
          <a:p>
            <a:r>
              <a:rPr lang="en-IN" dirty="0" err="1"/>
              <a:t>final_model</a:t>
            </a:r>
            <a:r>
              <a:rPr lang="en-IN" dirty="0"/>
              <a:t> = </a:t>
            </a:r>
            <a:r>
              <a:rPr lang="en-IN" dirty="0" err="1"/>
              <a:t>pm.auto_arima</a:t>
            </a:r>
            <a:r>
              <a:rPr lang="en-IN" dirty="0"/>
              <a:t>(</a:t>
            </a:r>
            <a:r>
              <a:rPr lang="en-IN" dirty="0" err="1"/>
              <a:t>df_vietnam</a:t>
            </a:r>
            <a:r>
              <a:rPr lang="en-IN" dirty="0"/>
              <a:t>, seasonal=False, stepwise=True) -&gt;predict on real data </a:t>
            </a:r>
          </a:p>
          <a:p>
            <a:r>
              <a:rPr lang="en-IN" dirty="0" err="1"/>
              <a:t>future_forecast</a:t>
            </a:r>
            <a:r>
              <a:rPr lang="en-IN" dirty="0"/>
              <a:t> = </a:t>
            </a:r>
            <a:r>
              <a:rPr lang="en-IN" dirty="0" err="1"/>
              <a:t>final_model.predict</a:t>
            </a:r>
            <a:r>
              <a:rPr lang="en-IN" dirty="0"/>
              <a:t>(</a:t>
            </a:r>
            <a:r>
              <a:rPr lang="en-IN" dirty="0" err="1"/>
              <a:t>n_periods</a:t>
            </a:r>
            <a:r>
              <a:rPr lang="en-IN" dirty="0"/>
              <a:t>=5)</a:t>
            </a:r>
          </a:p>
          <a:p>
            <a:r>
              <a:rPr lang="en-IN" dirty="0"/>
              <a:t>print(</a:t>
            </a:r>
            <a:r>
              <a:rPr lang="en-IN" dirty="0" err="1"/>
              <a:t>future_forecast</a:t>
            </a:r>
            <a:r>
              <a:rPr lang="en-IN" dirty="0"/>
              <a:t>)-&gt; print forecast</a:t>
            </a:r>
          </a:p>
          <a:p>
            <a:endParaRPr lang="en-IN" dirty="0"/>
          </a:p>
        </p:txBody>
      </p:sp>
    </p:spTree>
    <p:extLst>
      <p:ext uri="{BB962C8B-B14F-4D97-AF65-F5344CB8AC3E}">
        <p14:creationId xmlns:p14="http://schemas.microsoft.com/office/powerpoint/2010/main" val="3583844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648F9C-C8AD-3A24-D56A-7D1148E85BDD}"/>
              </a:ext>
            </a:extLst>
          </p:cNvPr>
          <p:cNvPicPr>
            <a:picLocks noGrp="1" noChangeAspect="1"/>
          </p:cNvPicPr>
          <p:nvPr>
            <p:ph idx="1"/>
          </p:nvPr>
        </p:nvPicPr>
        <p:blipFill>
          <a:blip r:embed="rId2"/>
          <a:stretch>
            <a:fillRect/>
          </a:stretch>
        </p:blipFill>
        <p:spPr>
          <a:xfrm>
            <a:off x="643467" y="1602402"/>
            <a:ext cx="10905066" cy="3653195"/>
          </a:xfrm>
          <a:prstGeom prst="rect">
            <a:avLst/>
          </a:prstGeom>
        </p:spPr>
      </p:pic>
    </p:spTree>
    <p:extLst>
      <p:ext uri="{BB962C8B-B14F-4D97-AF65-F5344CB8AC3E}">
        <p14:creationId xmlns:p14="http://schemas.microsoft.com/office/powerpoint/2010/main" val="1371295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3E063F-F566-25BC-6D88-385B6A743075}"/>
              </a:ext>
            </a:extLst>
          </p:cNvPr>
          <p:cNvSpPr>
            <a:spLocks noGrp="1"/>
          </p:cNvSpPr>
          <p:nvPr>
            <p:ph idx="4294967295"/>
          </p:nvPr>
        </p:nvSpPr>
        <p:spPr>
          <a:xfrm>
            <a:off x="0" y="1825625"/>
            <a:ext cx="10515600" cy="4351338"/>
          </a:xfrm>
        </p:spPr>
        <p:txBody>
          <a:bodyPr/>
          <a:lstStyle/>
          <a:p>
            <a:r>
              <a:rPr lang="en-US" dirty="0"/>
              <a:t>In the same way I have built  the next 2 forecasting models for the different countries </a:t>
            </a:r>
            <a:endParaRPr lang="en-IN" dirty="0"/>
          </a:p>
          <a:p>
            <a:endParaRPr lang="en-IN" dirty="0"/>
          </a:p>
        </p:txBody>
      </p:sp>
    </p:spTree>
    <p:extLst>
      <p:ext uri="{BB962C8B-B14F-4D97-AF65-F5344CB8AC3E}">
        <p14:creationId xmlns:p14="http://schemas.microsoft.com/office/powerpoint/2010/main" val="177356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F997-9AAA-5B6D-AC95-69914B9FE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B4B53-D143-FD4B-EA30-9FBD713CB76A}"/>
              </a:ext>
            </a:extLst>
          </p:cNvPr>
          <p:cNvSpPr>
            <a:spLocks noGrp="1"/>
          </p:cNvSpPr>
          <p:nvPr>
            <p:ph type="title"/>
          </p:nvPr>
        </p:nvSpPr>
        <p:spPr/>
        <p:txBody>
          <a:bodyPr/>
          <a:lstStyle/>
          <a:p>
            <a:r>
              <a:rPr lang="en-US" dirty="0"/>
              <a:t>	Model Building-2</a:t>
            </a:r>
            <a:endParaRPr lang="en-IN" dirty="0"/>
          </a:p>
        </p:txBody>
      </p:sp>
      <p:sp>
        <p:nvSpPr>
          <p:cNvPr id="3" name="Content Placeholder 2">
            <a:extLst>
              <a:ext uri="{FF2B5EF4-FFF2-40B4-BE49-F238E27FC236}">
                <a16:creationId xmlns:a16="http://schemas.microsoft.com/office/drawing/2014/main" id="{8E99B5F3-B6E0-5DB4-955F-BF7C5A34E6FB}"/>
              </a:ext>
            </a:extLst>
          </p:cNvPr>
          <p:cNvSpPr>
            <a:spLocks noGrp="1"/>
          </p:cNvSpPr>
          <p:nvPr>
            <p:ph idx="1"/>
          </p:nvPr>
        </p:nvSpPr>
        <p:spPr/>
        <p:txBody>
          <a:bodyPr>
            <a:normAutofit fontScale="85000" lnSpcReduction="20000"/>
          </a:bodyPr>
          <a:lstStyle/>
          <a:p>
            <a:r>
              <a:rPr lang="en-IN" dirty="0"/>
              <a:t>import </a:t>
            </a:r>
            <a:r>
              <a:rPr lang="en-IN" dirty="0" err="1"/>
              <a:t>pmdarima</a:t>
            </a:r>
            <a:r>
              <a:rPr lang="en-IN" dirty="0"/>
              <a:t> as pm</a:t>
            </a:r>
          </a:p>
          <a:p>
            <a:r>
              <a:rPr lang="en-IN" dirty="0" err="1"/>
              <a:t>df_Angola</a:t>
            </a:r>
            <a:r>
              <a:rPr lang="en-IN" dirty="0"/>
              <a:t> = </a:t>
            </a:r>
            <a:r>
              <a:rPr lang="en-IN" dirty="0" err="1"/>
              <a:t>df</a:t>
            </a:r>
            <a:r>
              <a:rPr lang="en-IN" dirty="0"/>
              <a:t>[</a:t>
            </a:r>
            <a:r>
              <a:rPr lang="en-IN" dirty="0" err="1"/>
              <a:t>df</a:t>
            </a:r>
            <a:r>
              <a:rPr lang="en-IN" dirty="0"/>
              <a:t>['country'] == 'Angola'][['</a:t>
            </a:r>
            <a:r>
              <a:rPr lang="en-IN" dirty="0" err="1"/>
              <a:t>temperature_celsius</a:t>
            </a:r>
            <a:r>
              <a:rPr lang="en-IN" dirty="0"/>
              <a:t>']].</a:t>
            </a:r>
            <a:r>
              <a:rPr lang="en-IN" dirty="0" err="1"/>
              <a:t>sort_index</a:t>
            </a:r>
            <a:r>
              <a:rPr lang="en-IN" dirty="0"/>
              <a:t>()</a:t>
            </a:r>
          </a:p>
          <a:p>
            <a:r>
              <a:rPr lang="en-IN" dirty="0" err="1"/>
              <a:t>df_Angola</a:t>
            </a:r>
            <a:r>
              <a:rPr lang="en-IN" dirty="0"/>
              <a:t> = </a:t>
            </a:r>
            <a:r>
              <a:rPr lang="en-IN" dirty="0" err="1"/>
              <a:t>df_Angola</a:t>
            </a:r>
            <a:r>
              <a:rPr lang="en-IN" dirty="0"/>
              <a:t>[~</a:t>
            </a:r>
            <a:r>
              <a:rPr lang="en-IN" dirty="0" err="1"/>
              <a:t>df_Angola.index.duplicated</a:t>
            </a:r>
            <a:r>
              <a:rPr lang="en-IN" dirty="0"/>
              <a:t>(keep='first')]</a:t>
            </a:r>
          </a:p>
          <a:p>
            <a:r>
              <a:rPr lang="en-IN" dirty="0" err="1"/>
              <a:t>train_angola</a:t>
            </a:r>
            <a:r>
              <a:rPr lang="en-IN" dirty="0"/>
              <a:t> = </a:t>
            </a:r>
            <a:r>
              <a:rPr lang="en-IN" dirty="0" err="1"/>
              <a:t>df_Angola.iloc</a:t>
            </a:r>
            <a:r>
              <a:rPr lang="en-IN" dirty="0"/>
              <a:t>[:-5]</a:t>
            </a:r>
          </a:p>
          <a:p>
            <a:r>
              <a:rPr lang="en-IN" dirty="0" err="1"/>
              <a:t>actual_answers_angola</a:t>
            </a:r>
            <a:r>
              <a:rPr lang="en-IN" dirty="0"/>
              <a:t> = </a:t>
            </a:r>
            <a:r>
              <a:rPr lang="en-IN" dirty="0" err="1"/>
              <a:t>df_Angola.iloc</a:t>
            </a:r>
            <a:r>
              <a:rPr lang="en-IN" dirty="0"/>
              <a:t>[-5:]</a:t>
            </a:r>
          </a:p>
          <a:p>
            <a:r>
              <a:rPr lang="en-IN" dirty="0" err="1"/>
              <a:t>model_angola</a:t>
            </a:r>
            <a:r>
              <a:rPr lang="en-IN" dirty="0"/>
              <a:t> = </a:t>
            </a:r>
            <a:r>
              <a:rPr lang="en-IN" dirty="0" err="1"/>
              <a:t>pm.auto_arima</a:t>
            </a:r>
            <a:r>
              <a:rPr lang="en-IN" dirty="0"/>
              <a:t>(</a:t>
            </a:r>
            <a:r>
              <a:rPr lang="en-IN" dirty="0" err="1"/>
              <a:t>train_angola</a:t>
            </a:r>
            <a:r>
              <a:rPr lang="en-IN" dirty="0"/>
              <a:t>, seasonal=False, stepwise=True)</a:t>
            </a:r>
          </a:p>
          <a:p>
            <a:r>
              <a:rPr lang="en-IN" dirty="0" err="1"/>
              <a:t>predictions_angola</a:t>
            </a:r>
            <a:r>
              <a:rPr lang="en-IN" dirty="0"/>
              <a:t> = </a:t>
            </a:r>
            <a:r>
              <a:rPr lang="en-IN" dirty="0" err="1"/>
              <a:t>model_angola.predict</a:t>
            </a:r>
            <a:r>
              <a:rPr lang="en-IN" dirty="0"/>
              <a:t>(</a:t>
            </a:r>
            <a:r>
              <a:rPr lang="en-IN" dirty="0" err="1"/>
              <a:t>n_periods</a:t>
            </a:r>
            <a:r>
              <a:rPr lang="en-IN" dirty="0"/>
              <a:t>=5)</a:t>
            </a:r>
          </a:p>
          <a:p>
            <a:r>
              <a:rPr lang="en-IN" dirty="0" err="1"/>
              <a:t>average_error_angola</a:t>
            </a:r>
            <a:r>
              <a:rPr lang="en-IN" dirty="0"/>
              <a:t> = abs(</a:t>
            </a:r>
            <a:r>
              <a:rPr lang="en-IN" dirty="0" err="1"/>
              <a:t>actual_answers_angola</a:t>
            </a:r>
            <a:r>
              <a:rPr lang="en-IN" dirty="0"/>
              <a:t>['</a:t>
            </a:r>
            <a:r>
              <a:rPr lang="en-IN" dirty="0" err="1"/>
              <a:t>temperature_celsius</a:t>
            </a:r>
            <a:r>
              <a:rPr lang="en-IN" dirty="0"/>
              <a:t>'].values - </a:t>
            </a:r>
            <a:r>
              <a:rPr lang="en-IN" dirty="0" err="1"/>
              <a:t>predictions_angola.values</a:t>
            </a:r>
            <a:r>
              <a:rPr lang="en-IN" dirty="0"/>
              <a:t>).mean()</a:t>
            </a:r>
          </a:p>
          <a:p>
            <a:r>
              <a:rPr lang="en-IN" dirty="0" err="1"/>
              <a:t>average_error_angola</a:t>
            </a:r>
            <a:endParaRPr lang="en-IN" dirty="0"/>
          </a:p>
        </p:txBody>
      </p:sp>
    </p:spTree>
    <p:extLst>
      <p:ext uri="{BB962C8B-B14F-4D97-AF65-F5344CB8AC3E}">
        <p14:creationId xmlns:p14="http://schemas.microsoft.com/office/powerpoint/2010/main" val="22728609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14331-F165-51F7-379B-79AC9533FF36}"/>
              </a:ext>
            </a:extLst>
          </p:cNvPr>
          <p:cNvSpPr>
            <a:spLocks noGrp="1"/>
          </p:cNvSpPr>
          <p:nvPr>
            <p:ph idx="4294967295"/>
          </p:nvPr>
        </p:nvSpPr>
        <p:spPr>
          <a:xfrm>
            <a:off x="0" y="1825625"/>
            <a:ext cx="10515600" cy="4351338"/>
          </a:xfrm>
        </p:spPr>
        <p:txBody>
          <a:bodyPr/>
          <a:lstStyle/>
          <a:p>
            <a:r>
              <a:rPr lang="en-IN" dirty="0" err="1"/>
              <a:t>final_model</a:t>
            </a:r>
            <a:r>
              <a:rPr lang="en-IN" dirty="0"/>
              <a:t>=</a:t>
            </a:r>
            <a:r>
              <a:rPr lang="en-IN" dirty="0" err="1"/>
              <a:t>pm.auto_arima</a:t>
            </a:r>
            <a:r>
              <a:rPr lang="en-IN" dirty="0"/>
              <a:t>(</a:t>
            </a:r>
            <a:r>
              <a:rPr lang="en-IN" dirty="0" err="1"/>
              <a:t>df_Angola,seasonal</a:t>
            </a:r>
            <a:r>
              <a:rPr lang="en-IN" dirty="0"/>
              <a:t>=</a:t>
            </a:r>
            <a:r>
              <a:rPr lang="en-IN" dirty="0" err="1"/>
              <a:t>False,stepwise</a:t>
            </a:r>
            <a:r>
              <a:rPr lang="en-IN" dirty="0"/>
              <a:t>=True)</a:t>
            </a:r>
          </a:p>
          <a:p>
            <a:r>
              <a:rPr lang="en-IN" dirty="0" err="1"/>
              <a:t>future_forecast</a:t>
            </a:r>
            <a:r>
              <a:rPr lang="en-IN" dirty="0"/>
              <a:t>=</a:t>
            </a:r>
            <a:r>
              <a:rPr lang="en-IN" dirty="0" err="1"/>
              <a:t>final_model.predict</a:t>
            </a:r>
            <a:r>
              <a:rPr lang="en-IN" dirty="0"/>
              <a:t>(</a:t>
            </a:r>
            <a:r>
              <a:rPr lang="en-IN" dirty="0" err="1"/>
              <a:t>n_periods</a:t>
            </a:r>
            <a:r>
              <a:rPr lang="en-IN" dirty="0"/>
              <a:t>=5)</a:t>
            </a:r>
          </a:p>
          <a:p>
            <a:r>
              <a:rPr lang="en-IN" dirty="0"/>
              <a:t>print(</a:t>
            </a:r>
            <a:r>
              <a:rPr lang="en-IN" dirty="0" err="1"/>
              <a:t>future_forecast</a:t>
            </a:r>
            <a:r>
              <a:rPr lang="en-IN" dirty="0"/>
              <a:t>)</a:t>
            </a:r>
          </a:p>
          <a:p>
            <a:endParaRPr lang="en-IN" dirty="0"/>
          </a:p>
        </p:txBody>
      </p:sp>
    </p:spTree>
    <p:extLst>
      <p:ext uri="{BB962C8B-B14F-4D97-AF65-F5344CB8AC3E}">
        <p14:creationId xmlns:p14="http://schemas.microsoft.com/office/powerpoint/2010/main" val="1155985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17B1EF-AA15-30D4-2DF7-BB5CFBE78B4D}"/>
              </a:ext>
            </a:extLst>
          </p:cNvPr>
          <p:cNvPicPr>
            <a:picLocks noGrp="1" noChangeAspect="1"/>
          </p:cNvPicPr>
          <p:nvPr>
            <p:ph idx="1"/>
          </p:nvPr>
        </p:nvPicPr>
        <p:blipFill>
          <a:blip r:embed="rId2"/>
          <a:stretch>
            <a:fillRect/>
          </a:stretch>
        </p:blipFill>
        <p:spPr>
          <a:xfrm>
            <a:off x="643467" y="1479720"/>
            <a:ext cx="10905066" cy="3898559"/>
          </a:xfrm>
          <a:prstGeom prst="rect">
            <a:avLst/>
          </a:prstGeom>
        </p:spPr>
      </p:pic>
    </p:spTree>
    <p:extLst>
      <p:ext uri="{BB962C8B-B14F-4D97-AF65-F5344CB8AC3E}">
        <p14:creationId xmlns:p14="http://schemas.microsoft.com/office/powerpoint/2010/main" val="2319294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D8C975-1FD0-4F91-CFE6-059A22977789}"/>
              </a:ext>
            </a:extLst>
          </p:cNvPr>
          <p:cNvSpPr>
            <a:spLocks noGrp="1"/>
          </p:cNvSpPr>
          <p:nvPr>
            <p:ph idx="4294967295"/>
          </p:nvPr>
        </p:nvSpPr>
        <p:spPr>
          <a:xfrm>
            <a:off x="0" y="1825625"/>
            <a:ext cx="10515600" cy="4351338"/>
          </a:xfrm>
        </p:spPr>
        <p:txBody>
          <a:bodyPr>
            <a:normAutofit fontScale="85000" lnSpcReduction="20000"/>
          </a:bodyPr>
          <a:lstStyle/>
          <a:p>
            <a:r>
              <a:rPr lang="en-IN" dirty="0"/>
              <a:t>import </a:t>
            </a:r>
            <a:r>
              <a:rPr lang="en-IN" dirty="0" err="1"/>
              <a:t>pmdarima</a:t>
            </a:r>
            <a:r>
              <a:rPr lang="en-IN" dirty="0"/>
              <a:t> as pm</a:t>
            </a:r>
          </a:p>
          <a:p>
            <a:r>
              <a:rPr lang="en-IN" dirty="0" err="1"/>
              <a:t>df_Angola</a:t>
            </a:r>
            <a:r>
              <a:rPr lang="en-IN" dirty="0"/>
              <a:t> = </a:t>
            </a:r>
            <a:r>
              <a:rPr lang="en-IN" dirty="0" err="1"/>
              <a:t>df</a:t>
            </a:r>
            <a:r>
              <a:rPr lang="en-IN" dirty="0"/>
              <a:t>[</a:t>
            </a:r>
            <a:r>
              <a:rPr lang="en-IN" dirty="0" err="1"/>
              <a:t>df</a:t>
            </a:r>
            <a:r>
              <a:rPr lang="en-IN" dirty="0"/>
              <a:t>['country'] == 'Angola'][['</a:t>
            </a:r>
            <a:r>
              <a:rPr lang="en-IN" dirty="0" err="1"/>
              <a:t>temperature_celsius</a:t>
            </a:r>
            <a:r>
              <a:rPr lang="en-IN" dirty="0"/>
              <a:t>']].</a:t>
            </a:r>
            <a:r>
              <a:rPr lang="en-IN" dirty="0" err="1"/>
              <a:t>sort_index</a:t>
            </a:r>
            <a:r>
              <a:rPr lang="en-IN" dirty="0"/>
              <a:t>()</a:t>
            </a:r>
          </a:p>
          <a:p>
            <a:r>
              <a:rPr lang="en-IN" dirty="0" err="1"/>
              <a:t>df_Angola</a:t>
            </a:r>
            <a:r>
              <a:rPr lang="en-IN" dirty="0"/>
              <a:t> = </a:t>
            </a:r>
            <a:r>
              <a:rPr lang="en-IN" dirty="0" err="1"/>
              <a:t>df_Angola</a:t>
            </a:r>
            <a:r>
              <a:rPr lang="en-IN" dirty="0"/>
              <a:t>[~</a:t>
            </a:r>
            <a:r>
              <a:rPr lang="en-IN" dirty="0" err="1"/>
              <a:t>df_Angola.index.duplicated</a:t>
            </a:r>
            <a:r>
              <a:rPr lang="en-IN" dirty="0"/>
              <a:t>(keep='first')]</a:t>
            </a:r>
          </a:p>
          <a:p>
            <a:r>
              <a:rPr lang="en-IN" dirty="0" err="1"/>
              <a:t>train_angola</a:t>
            </a:r>
            <a:r>
              <a:rPr lang="en-IN" dirty="0"/>
              <a:t> = </a:t>
            </a:r>
            <a:r>
              <a:rPr lang="en-IN" dirty="0" err="1"/>
              <a:t>df_Angola.iloc</a:t>
            </a:r>
            <a:r>
              <a:rPr lang="en-IN" dirty="0"/>
              <a:t>[:-5]</a:t>
            </a:r>
          </a:p>
          <a:p>
            <a:r>
              <a:rPr lang="en-IN" dirty="0" err="1"/>
              <a:t>actual_answers_angola</a:t>
            </a:r>
            <a:r>
              <a:rPr lang="en-IN" dirty="0"/>
              <a:t> = </a:t>
            </a:r>
            <a:r>
              <a:rPr lang="en-IN" dirty="0" err="1"/>
              <a:t>df_Angola.iloc</a:t>
            </a:r>
            <a:r>
              <a:rPr lang="en-IN" dirty="0"/>
              <a:t>[-5:]</a:t>
            </a:r>
          </a:p>
          <a:p>
            <a:r>
              <a:rPr lang="en-IN" dirty="0" err="1"/>
              <a:t>model_angola</a:t>
            </a:r>
            <a:r>
              <a:rPr lang="en-IN" dirty="0"/>
              <a:t> = </a:t>
            </a:r>
            <a:r>
              <a:rPr lang="en-IN" dirty="0" err="1"/>
              <a:t>pm.auto_arima</a:t>
            </a:r>
            <a:r>
              <a:rPr lang="en-IN" dirty="0"/>
              <a:t>(</a:t>
            </a:r>
            <a:r>
              <a:rPr lang="en-IN" dirty="0" err="1"/>
              <a:t>train_angola</a:t>
            </a:r>
            <a:r>
              <a:rPr lang="en-IN" dirty="0"/>
              <a:t>, seasonal=False, stepwise=True)</a:t>
            </a:r>
          </a:p>
          <a:p>
            <a:r>
              <a:rPr lang="en-IN" dirty="0" err="1"/>
              <a:t>predictions_angola</a:t>
            </a:r>
            <a:r>
              <a:rPr lang="en-IN" dirty="0"/>
              <a:t> = </a:t>
            </a:r>
            <a:r>
              <a:rPr lang="en-IN" dirty="0" err="1"/>
              <a:t>model_angola.predict</a:t>
            </a:r>
            <a:r>
              <a:rPr lang="en-IN" dirty="0"/>
              <a:t>(</a:t>
            </a:r>
            <a:r>
              <a:rPr lang="en-IN" dirty="0" err="1"/>
              <a:t>n_periods</a:t>
            </a:r>
            <a:r>
              <a:rPr lang="en-IN" dirty="0"/>
              <a:t>=5)</a:t>
            </a:r>
          </a:p>
          <a:p>
            <a:r>
              <a:rPr lang="en-IN" dirty="0" err="1"/>
              <a:t>average_error_angola</a:t>
            </a:r>
            <a:r>
              <a:rPr lang="en-IN" dirty="0"/>
              <a:t> = abs(</a:t>
            </a:r>
            <a:r>
              <a:rPr lang="en-IN" dirty="0" err="1"/>
              <a:t>actual_answers_angola</a:t>
            </a:r>
            <a:r>
              <a:rPr lang="en-IN" dirty="0"/>
              <a:t>['</a:t>
            </a:r>
            <a:r>
              <a:rPr lang="en-IN" dirty="0" err="1"/>
              <a:t>temperature_celsius</a:t>
            </a:r>
            <a:r>
              <a:rPr lang="en-IN" dirty="0"/>
              <a:t>'].values - </a:t>
            </a:r>
            <a:r>
              <a:rPr lang="en-IN" dirty="0" err="1"/>
              <a:t>predictions_angola.values</a:t>
            </a:r>
            <a:r>
              <a:rPr lang="en-IN" dirty="0"/>
              <a:t>).mean()</a:t>
            </a:r>
          </a:p>
          <a:p>
            <a:r>
              <a:rPr lang="en-IN" dirty="0" err="1"/>
              <a:t>average_error_angola</a:t>
            </a:r>
            <a:endParaRPr lang="en-IN" dirty="0"/>
          </a:p>
          <a:p>
            <a:endParaRPr lang="en-IN" dirty="0"/>
          </a:p>
        </p:txBody>
      </p:sp>
    </p:spTree>
    <p:extLst>
      <p:ext uri="{BB962C8B-B14F-4D97-AF65-F5344CB8AC3E}">
        <p14:creationId xmlns:p14="http://schemas.microsoft.com/office/powerpoint/2010/main" val="738803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C4DA1-22F4-236D-EF95-64CF02B7EC0C}"/>
              </a:ext>
            </a:extLst>
          </p:cNvPr>
          <p:cNvSpPr>
            <a:spLocks noGrp="1"/>
          </p:cNvSpPr>
          <p:nvPr>
            <p:ph idx="4294967295"/>
          </p:nvPr>
        </p:nvSpPr>
        <p:spPr>
          <a:xfrm>
            <a:off x="0" y="1825625"/>
            <a:ext cx="10515600" cy="4351338"/>
          </a:xfrm>
        </p:spPr>
        <p:txBody>
          <a:bodyPr>
            <a:normAutofit/>
          </a:bodyPr>
          <a:lstStyle/>
          <a:p>
            <a:r>
              <a:rPr lang="en-IN" dirty="0" err="1"/>
              <a:t>final_model</a:t>
            </a:r>
            <a:r>
              <a:rPr lang="en-IN" dirty="0"/>
              <a:t>=</a:t>
            </a:r>
            <a:r>
              <a:rPr lang="en-IN" dirty="0" err="1"/>
              <a:t>pm.auto_arima</a:t>
            </a:r>
            <a:r>
              <a:rPr lang="en-IN" dirty="0"/>
              <a:t>(</a:t>
            </a:r>
            <a:r>
              <a:rPr lang="en-IN" dirty="0" err="1"/>
              <a:t>df_Angola,seasonal</a:t>
            </a:r>
            <a:r>
              <a:rPr lang="en-IN" dirty="0"/>
              <a:t>=</a:t>
            </a:r>
            <a:r>
              <a:rPr lang="en-IN" dirty="0" err="1"/>
              <a:t>False,stepwise</a:t>
            </a:r>
            <a:r>
              <a:rPr lang="en-IN" dirty="0"/>
              <a:t>=True)</a:t>
            </a:r>
          </a:p>
          <a:p>
            <a:r>
              <a:rPr lang="en-IN" dirty="0" err="1"/>
              <a:t>future_forecast</a:t>
            </a:r>
            <a:r>
              <a:rPr lang="en-IN" dirty="0"/>
              <a:t>=</a:t>
            </a:r>
            <a:r>
              <a:rPr lang="en-IN" dirty="0" err="1"/>
              <a:t>final_model.predict</a:t>
            </a:r>
            <a:r>
              <a:rPr lang="en-IN" dirty="0"/>
              <a:t>(</a:t>
            </a:r>
            <a:r>
              <a:rPr lang="en-IN" dirty="0" err="1"/>
              <a:t>n_periods</a:t>
            </a:r>
            <a:r>
              <a:rPr lang="en-IN" dirty="0"/>
              <a:t>=5)</a:t>
            </a:r>
          </a:p>
          <a:p>
            <a:r>
              <a:rPr lang="en-IN" dirty="0"/>
              <a:t>print(</a:t>
            </a:r>
            <a:r>
              <a:rPr lang="en-IN" dirty="0" err="1"/>
              <a:t>future_forecast</a:t>
            </a:r>
            <a:r>
              <a:rPr lang="en-IN" dirty="0"/>
              <a:t>)</a:t>
            </a:r>
          </a:p>
          <a:p>
            <a:endParaRPr lang="en-IN" dirty="0"/>
          </a:p>
        </p:txBody>
      </p:sp>
    </p:spTree>
    <p:extLst>
      <p:ext uri="{BB962C8B-B14F-4D97-AF65-F5344CB8AC3E}">
        <p14:creationId xmlns:p14="http://schemas.microsoft.com/office/powerpoint/2010/main" val="4131050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B263F1-9CF0-749A-F49B-96E8BFB98243}"/>
              </a:ext>
            </a:extLst>
          </p:cNvPr>
          <p:cNvPicPr>
            <a:picLocks noGrp="1" noChangeAspect="1"/>
          </p:cNvPicPr>
          <p:nvPr>
            <p:ph idx="1"/>
          </p:nvPr>
        </p:nvPicPr>
        <p:blipFill>
          <a:blip r:embed="rId2"/>
          <a:stretch>
            <a:fillRect/>
          </a:stretch>
        </p:blipFill>
        <p:spPr>
          <a:xfrm>
            <a:off x="643467" y="1629664"/>
            <a:ext cx="10905066" cy="3598671"/>
          </a:xfrm>
          <a:prstGeom prst="rect">
            <a:avLst/>
          </a:prstGeom>
        </p:spPr>
      </p:pic>
    </p:spTree>
    <p:extLst>
      <p:ext uri="{BB962C8B-B14F-4D97-AF65-F5344CB8AC3E}">
        <p14:creationId xmlns:p14="http://schemas.microsoft.com/office/powerpoint/2010/main" val="1558418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80E3E-4666-66F6-2607-31E3CB66D87A}"/>
              </a:ext>
            </a:extLst>
          </p:cNvPr>
          <p:cNvSpPr>
            <a:spLocks noGrp="1"/>
          </p:cNvSpPr>
          <p:nvPr>
            <p:ph type="title"/>
          </p:nvPr>
        </p:nvSpPr>
        <p:spPr/>
        <p:txBody>
          <a:bodyPr/>
          <a:lstStyle/>
          <a:p>
            <a:r>
              <a:rPr lang="en-US" dirty="0"/>
              <a:t>Anomaly Detection </a:t>
            </a:r>
            <a:endParaRPr lang="en-IN" dirty="0"/>
          </a:p>
        </p:txBody>
      </p:sp>
      <p:sp>
        <p:nvSpPr>
          <p:cNvPr id="3" name="Content Placeholder 2">
            <a:extLst>
              <a:ext uri="{FF2B5EF4-FFF2-40B4-BE49-F238E27FC236}">
                <a16:creationId xmlns:a16="http://schemas.microsoft.com/office/drawing/2014/main" id="{3E8A26C5-A277-A5AA-1732-FFBDE76D8F1C}"/>
              </a:ext>
            </a:extLst>
          </p:cNvPr>
          <p:cNvSpPr>
            <a:spLocks noGrp="1"/>
          </p:cNvSpPr>
          <p:nvPr>
            <p:ph idx="1"/>
          </p:nvPr>
        </p:nvSpPr>
        <p:spPr/>
        <p:txBody>
          <a:bodyPr/>
          <a:lstStyle/>
          <a:p>
            <a:r>
              <a:rPr lang="en-US" dirty="0"/>
              <a:t>We detect using Anomalies using Isolation Forest Algorithm </a:t>
            </a:r>
          </a:p>
          <a:p>
            <a:r>
              <a:rPr lang="en-US" dirty="0"/>
              <a:t>We run isolation forest on error points instead of raw data points as it misses Anomalies on raw data </a:t>
            </a:r>
          </a:p>
          <a:p>
            <a:endParaRPr lang="en-US" dirty="0"/>
          </a:p>
          <a:p>
            <a:endParaRPr lang="en-US" dirty="0"/>
          </a:p>
          <a:p>
            <a:r>
              <a:rPr lang="en-US" dirty="0"/>
              <a:t>Eg Temp 44c in winter . A human would see Anomaly but Isolation Forest would  treat as normal .</a:t>
            </a:r>
          </a:p>
          <a:p>
            <a:endParaRPr lang="en-US" dirty="0"/>
          </a:p>
          <a:p>
            <a:endParaRPr lang="en-IN" dirty="0"/>
          </a:p>
        </p:txBody>
      </p:sp>
    </p:spTree>
    <p:extLst>
      <p:ext uri="{BB962C8B-B14F-4D97-AF65-F5344CB8AC3E}">
        <p14:creationId xmlns:p14="http://schemas.microsoft.com/office/powerpoint/2010/main" val="3960207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EE93D-E1FF-80DD-F8E3-3CCFB3E75ABB}"/>
              </a:ext>
            </a:extLst>
          </p:cNvPr>
          <p:cNvSpPr>
            <a:spLocks noGrp="1"/>
          </p:cNvSpPr>
          <p:nvPr>
            <p:ph type="title"/>
          </p:nvPr>
        </p:nvSpPr>
        <p:spPr>
          <a:xfrm>
            <a:off x="838200" y="365125"/>
            <a:ext cx="10515600" cy="894715"/>
          </a:xfrm>
        </p:spPr>
        <p:txBody>
          <a:bodyPr/>
          <a:lstStyle/>
          <a:p>
            <a:r>
              <a:rPr lang="en-US" dirty="0"/>
              <a:t>Anomaly Detection</a:t>
            </a:r>
            <a:endParaRPr lang="en-IN" dirty="0"/>
          </a:p>
        </p:txBody>
      </p:sp>
      <p:sp>
        <p:nvSpPr>
          <p:cNvPr id="3" name="Content Placeholder 2">
            <a:extLst>
              <a:ext uri="{FF2B5EF4-FFF2-40B4-BE49-F238E27FC236}">
                <a16:creationId xmlns:a16="http://schemas.microsoft.com/office/drawing/2014/main" id="{FD7CE2C1-ED09-B545-4AE6-50A2DBCBE98A}"/>
              </a:ext>
            </a:extLst>
          </p:cNvPr>
          <p:cNvSpPr>
            <a:spLocks noGrp="1"/>
          </p:cNvSpPr>
          <p:nvPr>
            <p:ph idx="1"/>
          </p:nvPr>
        </p:nvSpPr>
        <p:spPr>
          <a:xfrm>
            <a:off x="838200" y="1330960"/>
            <a:ext cx="10515600" cy="4846003"/>
          </a:xfrm>
        </p:spPr>
        <p:txBody>
          <a:bodyPr>
            <a:normAutofit fontScale="55000" lnSpcReduction="20000"/>
          </a:bodyPr>
          <a:lstStyle/>
          <a:p>
            <a:r>
              <a:rPr lang="en-IN" dirty="0"/>
              <a:t>import pandas as pd</a:t>
            </a:r>
          </a:p>
          <a:p>
            <a:r>
              <a:rPr lang="en-IN" dirty="0"/>
              <a:t>import </a:t>
            </a:r>
            <a:r>
              <a:rPr lang="en-IN" dirty="0" err="1"/>
              <a:t>numpy</a:t>
            </a:r>
            <a:r>
              <a:rPr lang="en-IN" dirty="0"/>
              <a:t> as np</a:t>
            </a:r>
          </a:p>
          <a:p>
            <a:r>
              <a:rPr lang="en-IN" dirty="0"/>
              <a:t>import </a:t>
            </a:r>
            <a:r>
              <a:rPr lang="en-IN" dirty="0" err="1"/>
              <a:t>pmdarima</a:t>
            </a:r>
            <a:r>
              <a:rPr lang="en-IN" dirty="0"/>
              <a:t> as pm</a:t>
            </a:r>
          </a:p>
          <a:p>
            <a:r>
              <a:rPr lang="en-IN" dirty="0"/>
              <a:t>from </a:t>
            </a:r>
            <a:r>
              <a:rPr lang="en-IN" dirty="0" err="1"/>
              <a:t>sklearn.ensemble</a:t>
            </a:r>
            <a:r>
              <a:rPr lang="en-IN" dirty="0"/>
              <a:t> import </a:t>
            </a:r>
            <a:r>
              <a:rPr lang="en-IN" dirty="0" err="1"/>
              <a:t>IsolationForest</a:t>
            </a:r>
            <a:r>
              <a:rPr lang="en-IN" dirty="0"/>
              <a:t> -&gt; imports </a:t>
            </a:r>
            <a:r>
              <a:rPr lang="en-IN" dirty="0" err="1"/>
              <a:t>IsolationForest</a:t>
            </a:r>
            <a:r>
              <a:rPr lang="en-IN" dirty="0"/>
              <a:t> Algorithm </a:t>
            </a:r>
          </a:p>
          <a:p>
            <a:r>
              <a:rPr lang="en-IN" dirty="0" err="1"/>
              <a:t>df_vietnam</a:t>
            </a:r>
            <a:r>
              <a:rPr lang="en-IN" dirty="0"/>
              <a:t> = </a:t>
            </a:r>
            <a:r>
              <a:rPr lang="en-IN" dirty="0" err="1"/>
              <a:t>df</a:t>
            </a:r>
            <a:r>
              <a:rPr lang="en-IN" dirty="0"/>
              <a:t>[</a:t>
            </a:r>
            <a:r>
              <a:rPr lang="en-IN" dirty="0" err="1"/>
              <a:t>df</a:t>
            </a:r>
            <a:r>
              <a:rPr lang="en-IN" dirty="0"/>
              <a:t>['country'] == 'Vietnam'][['</a:t>
            </a:r>
            <a:r>
              <a:rPr lang="en-IN" dirty="0" err="1"/>
              <a:t>temperature_celsius</a:t>
            </a:r>
            <a:r>
              <a:rPr lang="en-IN" dirty="0"/>
              <a:t>']].</a:t>
            </a:r>
            <a:r>
              <a:rPr lang="en-IN" dirty="0" err="1"/>
              <a:t>sort_index</a:t>
            </a:r>
            <a:r>
              <a:rPr lang="en-IN" dirty="0"/>
              <a:t>()-&gt; filters only those rows belonging to </a:t>
            </a:r>
            <a:r>
              <a:rPr lang="en-IN" dirty="0" err="1"/>
              <a:t>vieitnam</a:t>
            </a:r>
            <a:r>
              <a:rPr lang="en-IN" dirty="0"/>
              <a:t> </a:t>
            </a:r>
          </a:p>
          <a:p>
            <a:r>
              <a:rPr lang="en-IN" dirty="0" err="1"/>
              <a:t>df_vietnam</a:t>
            </a:r>
            <a:r>
              <a:rPr lang="en-IN" dirty="0"/>
              <a:t> = </a:t>
            </a:r>
            <a:r>
              <a:rPr lang="en-IN" dirty="0" err="1"/>
              <a:t>df_vietnam</a:t>
            </a:r>
            <a:r>
              <a:rPr lang="en-IN" dirty="0"/>
              <a:t>[~</a:t>
            </a:r>
            <a:r>
              <a:rPr lang="en-IN" dirty="0" err="1"/>
              <a:t>df_vietnam.index.duplicated</a:t>
            </a:r>
            <a:r>
              <a:rPr lang="en-IN" dirty="0"/>
              <a:t>(keep='first’)]-&gt; keeps first occurrence of duplicates </a:t>
            </a:r>
          </a:p>
          <a:p>
            <a:r>
              <a:rPr lang="en-IN" dirty="0" err="1"/>
              <a:t>arima_model</a:t>
            </a:r>
            <a:r>
              <a:rPr lang="en-IN" dirty="0"/>
              <a:t> = </a:t>
            </a:r>
            <a:r>
              <a:rPr lang="en-IN" dirty="0" err="1"/>
              <a:t>pm.auto_arima</a:t>
            </a:r>
            <a:r>
              <a:rPr lang="en-IN" dirty="0"/>
              <a:t>(</a:t>
            </a:r>
            <a:r>
              <a:rPr lang="en-IN" dirty="0" err="1"/>
              <a:t>df_vietnam</a:t>
            </a:r>
            <a:r>
              <a:rPr lang="en-IN" dirty="0"/>
              <a:t>, seasonal=False, stepwise=True)-&gt;calculate skips heavy seasonal steps and use intelligent step by step shortcut to calculate steps </a:t>
            </a:r>
          </a:p>
          <a:p>
            <a:r>
              <a:rPr lang="en-IN" dirty="0" err="1"/>
              <a:t>predicted_temperatures</a:t>
            </a:r>
            <a:r>
              <a:rPr lang="en-IN" dirty="0"/>
              <a:t> = </a:t>
            </a:r>
            <a:r>
              <a:rPr lang="en-IN" dirty="0" err="1"/>
              <a:t>arima_model.fittedvalues</a:t>
            </a:r>
            <a:r>
              <a:rPr lang="en-IN" dirty="0"/>
              <a:t>() -&gt;</a:t>
            </a:r>
            <a:r>
              <a:rPr lang="en-IN" dirty="0" err="1"/>
              <a:t>fittedvalues</a:t>
            </a:r>
            <a:r>
              <a:rPr lang="en-IN" dirty="0"/>
              <a:t>()  commands the model to look back at historical timeline and output what temperature It expects to see each day </a:t>
            </a:r>
          </a:p>
          <a:p>
            <a:r>
              <a:rPr lang="en-IN" dirty="0" err="1"/>
              <a:t>df_vietnam</a:t>
            </a:r>
            <a:r>
              <a:rPr lang="en-IN" dirty="0"/>
              <a:t>['</a:t>
            </a:r>
            <a:r>
              <a:rPr lang="en-IN" dirty="0" err="1"/>
              <a:t>model_error</a:t>
            </a:r>
            <a:r>
              <a:rPr lang="en-IN" dirty="0"/>
              <a:t>'] = </a:t>
            </a:r>
            <a:r>
              <a:rPr lang="en-IN" dirty="0" err="1"/>
              <a:t>df_vietnam</a:t>
            </a:r>
            <a:r>
              <a:rPr lang="en-IN" dirty="0"/>
              <a:t>['</a:t>
            </a:r>
            <a:r>
              <a:rPr lang="en-IN" dirty="0" err="1"/>
              <a:t>temperature_celsius</a:t>
            </a:r>
            <a:r>
              <a:rPr lang="en-IN" dirty="0"/>
              <a:t>'] - </a:t>
            </a:r>
            <a:r>
              <a:rPr lang="en-IN" dirty="0" err="1"/>
              <a:t>predicted_temperatures</a:t>
            </a:r>
            <a:r>
              <a:rPr lang="en-IN" dirty="0"/>
              <a:t> -&gt; </a:t>
            </a:r>
            <a:r>
              <a:rPr lang="en-IN" dirty="0" err="1"/>
              <a:t>actual_temp</a:t>
            </a:r>
            <a:r>
              <a:rPr lang="en-IN" dirty="0"/>
              <a:t>- </a:t>
            </a:r>
            <a:r>
              <a:rPr lang="en-IN" dirty="0" err="1"/>
              <a:t>pred_temp</a:t>
            </a:r>
            <a:endParaRPr lang="en-IN" dirty="0"/>
          </a:p>
          <a:p>
            <a:r>
              <a:rPr lang="en-IN" dirty="0" err="1"/>
              <a:t>X_errors</a:t>
            </a:r>
            <a:r>
              <a:rPr lang="en-IN" dirty="0"/>
              <a:t> = </a:t>
            </a:r>
            <a:r>
              <a:rPr lang="en-IN" dirty="0" err="1"/>
              <a:t>df_vietnam</a:t>
            </a:r>
            <a:r>
              <a:rPr lang="en-IN" dirty="0"/>
              <a:t>['</a:t>
            </a:r>
            <a:r>
              <a:rPr lang="en-IN" dirty="0" err="1"/>
              <a:t>model_error</a:t>
            </a:r>
            <a:r>
              <a:rPr lang="en-IN" dirty="0"/>
              <a:t>'].</a:t>
            </a:r>
            <a:r>
              <a:rPr lang="en-IN" dirty="0" err="1"/>
              <a:t>values.reshape</a:t>
            </a:r>
            <a:r>
              <a:rPr lang="en-IN" dirty="0"/>
              <a:t>(-1, 1) -&gt;</a:t>
            </a:r>
            <a:r>
              <a:rPr lang="en-IN" dirty="0" err="1"/>
              <a:t>skicit</a:t>
            </a:r>
            <a:r>
              <a:rPr lang="en-IN" dirty="0"/>
              <a:t>-Learn's models strictly require input data to be structured rather than a list </a:t>
            </a:r>
          </a:p>
          <a:p>
            <a:r>
              <a:rPr lang="en-IN" dirty="0" err="1"/>
              <a:t>iso_forest</a:t>
            </a:r>
            <a:r>
              <a:rPr lang="en-IN" dirty="0"/>
              <a:t> = </a:t>
            </a:r>
            <a:r>
              <a:rPr lang="en-IN" dirty="0" err="1"/>
              <a:t>IsolationForest</a:t>
            </a:r>
            <a:r>
              <a:rPr lang="en-IN" dirty="0"/>
              <a:t>(contamination=0.03, </a:t>
            </a:r>
            <a:r>
              <a:rPr lang="en-IN" dirty="0" err="1"/>
              <a:t>random_state</a:t>
            </a:r>
            <a:r>
              <a:rPr lang="en-IN" dirty="0"/>
              <a:t>=42) -&gt; flag top 3 most isolated features and </a:t>
            </a:r>
            <a:r>
              <a:rPr lang="en-IN" dirty="0" err="1"/>
              <a:t>random_state</a:t>
            </a:r>
            <a:r>
              <a:rPr lang="en-IN" dirty="0"/>
              <a:t>=42 introduces randomness </a:t>
            </a:r>
          </a:p>
          <a:p>
            <a:r>
              <a:rPr lang="en-IN" dirty="0" err="1"/>
              <a:t>df_vietnam</a:t>
            </a:r>
            <a:r>
              <a:rPr lang="en-IN" dirty="0"/>
              <a:t>['</a:t>
            </a:r>
            <a:r>
              <a:rPr lang="en-IN" dirty="0" err="1"/>
              <a:t>anomaly_score</a:t>
            </a:r>
            <a:r>
              <a:rPr lang="en-IN" dirty="0"/>
              <a:t>'] = </a:t>
            </a:r>
            <a:r>
              <a:rPr lang="en-IN" dirty="0" err="1"/>
              <a:t>iso_forest.fit_predict</a:t>
            </a:r>
            <a:r>
              <a:rPr lang="en-IN" dirty="0"/>
              <a:t>(</a:t>
            </a:r>
            <a:r>
              <a:rPr lang="en-IN" dirty="0" err="1"/>
              <a:t>X_errors</a:t>
            </a:r>
            <a:r>
              <a:rPr lang="en-IN" dirty="0"/>
              <a:t>) -&gt;  run </a:t>
            </a:r>
            <a:r>
              <a:rPr lang="en-IN" dirty="0" err="1"/>
              <a:t>iso_forest</a:t>
            </a:r>
            <a:r>
              <a:rPr lang="en-IN" dirty="0"/>
              <a:t> on </a:t>
            </a:r>
            <a:r>
              <a:rPr lang="en-IN" dirty="0" err="1"/>
              <a:t>errorrs</a:t>
            </a:r>
            <a:r>
              <a:rPr lang="en-IN" dirty="0"/>
              <a:t> </a:t>
            </a:r>
          </a:p>
          <a:p>
            <a:r>
              <a:rPr lang="en-IN" dirty="0" err="1"/>
              <a:t>model_anomalies</a:t>
            </a:r>
            <a:r>
              <a:rPr lang="en-IN" dirty="0"/>
              <a:t> = </a:t>
            </a:r>
            <a:r>
              <a:rPr lang="en-IN" dirty="0" err="1"/>
              <a:t>df_vietnam</a:t>
            </a:r>
            <a:r>
              <a:rPr lang="en-IN" dirty="0"/>
              <a:t>[</a:t>
            </a:r>
            <a:r>
              <a:rPr lang="en-IN" dirty="0" err="1"/>
              <a:t>df_vietnam</a:t>
            </a:r>
            <a:r>
              <a:rPr lang="en-IN" dirty="0"/>
              <a:t>['</a:t>
            </a:r>
            <a:r>
              <a:rPr lang="en-IN" dirty="0" err="1"/>
              <a:t>anomaly_score</a:t>
            </a:r>
            <a:r>
              <a:rPr lang="en-IN" dirty="0"/>
              <a:t>'] == -1] -&gt; detect </a:t>
            </a:r>
            <a:r>
              <a:rPr lang="en-IN" dirty="0" err="1"/>
              <a:t>anamlaies</a:t>
            </a:r>
            <a:r>
              <a:rPr lang="en-IN" dirty="0"/>
              <a:t> </a:t>
            </a:r>
          </a:p>
          <a:p>
            <a:r>
              <a:rPr lang="en-IN" dirty="0" err="1"/>
              <a:t>model_anamalies</a:t>
            </a:r>
            <a:endParaRPr lang="en-IN" dirty="0"/>
          </a:p>
          <a:p>
            <a:endParaRPr lang="en-IN" dirty="0"/>
          </a:p>
        </p:txBody>
      </p:sp>
    </p:spTree>
    <p:extLst>
      <p:ext uri="{BB962C8B-B14F-4D97-AF65-F5344CB8AC3E}">
        <p14:creationId xmlns:p14="http://schemas.microsoft.com/office/powerpoint/2010/main" val="2556964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36686E10-7C50-A359-9370-589756FA278C}"/>
              </a:ext>
            </a:extLst>
          </p:cNvPr>
          <p:cNvPicPr>
            <a:picLocks noGrp="1" noChangeAspect="1"/>
          </p:cNvPicPr>
          <p:nvPr>
            <p:ph idx="1"/>
          </p:nvPr>
        </p:nvPicPr>
        <p:blipFill>
          <a:blip r:embed="rId2"/>
          <a:srcRect r="22651" b="-1"/>
          <a:stretch>
            <a:fillRect/>
          </a:stretch>
        </p:blipFill>
        <p:spPr>
          <a:xfrm>
            <a:off x="20" y="1282"/>
            <a:ext cx="12191980" cy="6856718"/>
          </a:xfrm>
          <a:prstGeom prst="rect">
            <a:avLst/>
          </a:prstGeom>
        </p:spPr>
      </p:pic>
    </p:spTree>
    <p:extLst>
      <p:ext uri="{BB962C8B-B14F-4D97-AF65-F5344CB8AC3E}">
        <p14:creationId xmlns:p14="http://schemas.microsoft.com/office/powerpoint/2010/main" val="756631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28B76-0488-6F49-3317-C056C8247B08}"/>
              </a:ext>
            </a:extLst>
          </p:cNvPr>
          <p:cNvSpPr>
            <a:spLocks noGrp="1"/>
          </p:cNvSpPr>
          <p:nvPr>
            <p:ph type="title"/>
          </p:nvPr>
        </p:nvSpPr>
        <p:spPr/>
        <p:txBody>
          <a:bodyPr/>
          <a:lstStyle/>
          <a:p>
            <a:r>
              <a:rPr lang="en-US" dirty="0"/>
              <a:t>Feature Importance</a:t>
            </a:r>
            <a:br>
              <a:rPr lang="en-US" dirty="0"/>
            </a:br>
            <a:endParaRPr lang="en-IN" dirty="0"/>
          </a:p>
        </p:txBody>
      </p:sp>
      <p:sp>
        <p:nvSpPr>
          <p:cNvPr id="3" name="Content Placeholder 2">
            <a:extLst>
              <a:ext uri="{FF2B5EF4-FFF2-40B4-BE49-F238E27FC236}">
                <a16:creationId xmlns:a16="http://schemas.microsoft.com/office/drawing/2014/main" id="{04D30836-C36B-9F8C-561B-75DCC3EACC04}"/>
              </a:ext>
            </a:extLst>
          </p:cNvPr>
          <p:cNvSpPr>
            <a:spLocks noGrp="1"/>
          </p:cNvSpPr>
          <p:nvPr>
            <p:ph idx="1"/>
          </p:nvPr>
        </p:nvSpPr>
        <p:spPr/>
        <p:txBody>
          <a:bodyPr>
            <a:normAutofit/>
          </a:bodyPr>
          <a:lstStyle/>
          <a:p>
            <a:r>
              <a:rPr lang="en-IN" dirty="0"/>
              <a:t>from </a:t>
            </a:r>
            <a:r>
              <a:rPr lang="en-IN" dirty="0" err="1"/>
              <a:t>sklearn.inspection</a:t>
            </a:r>
            <a:r>
              <a:rPr lang="en-IN" dirty="0"/>
              <a:t> import </a:t>
            </a:r>
            <a:r>
              <a:rPr lang="en-IN" dirty="0" err="1"/>
              <a:t>permutation_importance</a:t>
            </a:r>
            <a:r>
              <a:rPr lang="en-IN" dirty="0"/>
              <a:t> -&gt;how important each feature is to the model prediction </a:t>
            </a:r>
          </a:p>
          <a:p>
            <a:r>
              <a:rPr lang="en-IN" dirty="0"/>
              <a:t>labels = </a:t>
            </a:r>
            <a:r>
              <a:rPr lang="en-IN" dirty="0" err="1"/>
              <a:t>df_vietnam</a:t>
            </a:r>
            <a:r>
              <a:rPr lang="en-IN" dirty="0"/>
              <a:t>['</a:t>
            </a:r>
            <a:r>
              <a:rPr lang="en-IN" dirty="0" err="1"/>
              <a:t>anomaly_score</a:t>
            </a:r>
            <a:r>
              <a:rPr lang="en-IN" dirty="0"/>
              <a:t>’]-&gt; saving it to the feature called labels </a:t>
            </a:r>
          </a:p>
          <a:p>
            <a:r>
              <a:rPr lang="en-IN" dirty="0"/>
              <a:t>result = </a:t>
            </a:r>
            <a:r>
              <a:rPr lang="en-IN" dirty="0" err="1"/>
              <a:t>permutation_importance</a:t>
            </a:r>
            <a:r>
              <a:rPr lang="en-IN" dirty="0"/>
              <a:t>(</a:t>
            </a:r>
            <a:r>
              <a:rPr lang="en-IN" dirty="0" err="1"/>
              <a:t>iso_forest</a:t>
            </a:r>
            <a:r>
              <a:rPr lang="en-IN" dirty="0"/>
              <a:t>, </a:t>
            </a:r>
            <a:r>
              <a:rPr lang="en-IN" dirty="0" err="1"/>
              <a:t>X_errors</a:t>
            </a:r>
            <a:r>
              <a:rPr lang="en-IN" dirty="0"/>
              <a:t>, labels, scoring='accuracy’) -&gt; detecting important features using </a:t>
            </a:r>
            <a:r>
              <a:rPr lang="en-IN" dirty="0" err="1"/>
              <a:t>permutation_importance</a:t>
            </a:r>
            <a:r>
              <a:rPr lang="en-IN" dirty="0"/>
              <a:t> </a:t>
            </a:r>
          </a:p>
          <a:p>
            <a:r>
              <a:rPr lang="en-IN" dirty="0"/>
              <a:t>print(</a:t>
            </a:r>
            <a:r>
              <a:rPr lang="en-IN" dirty="0" err="1"/>
              <a:t>result.importances_mean</a:t>
            </a:r>
            <a:r>
              <a:rPr lang="en-IN" dirty="0"/>
              <a:t>) -&gt; print </a:t>
            </a:r>
            <a:r>
              <a:rPr lang="en-IN" dirty="0" err="1"/>
              <a:t>result_importances.mean</a:t>
            </a:r>
            <a:endParaRPr lang="en-IN" dirty="0"/>
          </a:p>
          <a:p>
            <a:endParaRPr lang="en-IN" dirty="0"/>
          </a:p>
        </p:txBody>
      </p:sp>
    </p:spTree>
    <p:extLst>
      <p:ext uri="{BB962C8B-B14F-4D97-AF65-F5344CB8AC3E}">
        <p14:creationId xmlns:p14="http://schemas.microsoft.com/office/powerpoint/2010/main" val="75872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67C7EF-A782-0963-2BC9-AD3C5181D03D}"/>
              </a:ext>
            </a:extLst>
          </p:cNvPr>
          <p:cNvPicPr>
            <a:picLocks noChangeAspect="1"/>
          </p:cNvPicPr>
          <p:nvPr/>
        </p:nvPicPr>
        <p:blipFill>
          <a:blip r:embed="rId2"/>
          <a:stretch>
            <a:fillRect/>
          </a:stretch>
        </p:blipFill>
        <p:spPr>
          <a:xfrm>
            <a:off x="311026" y="2062480"/>
            <a:ext cx="12287373" cy="1639036"/>
          </a:xfrm>
          <a:prstGeom prst="rect">
            <a:avLst/>
          </a:prstGeom>
        </p:spPr>
      </p:pic>
    </p:spTree>
    <p:extLst>
      <p:ext uri="{BB962C8B-B14F-4D97-AF65-F5344CB8AC3E}">
        <p14:creationId xmlns:p14="http://schemas.microsoft.com/office/powerpoint/2010/main" val="37908808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8716D-291A-AE14-D0F0-238AADC2D02E}"/>
              </a:ext>
            </a:extLst>
          </p:cNvPr>
          <p:cNvSpPr>
            <a:spLocks noGrp="1"/>
          </p:cNvSpPr>
          <p:nvPr>
            <p:ph type="title"/>
          </p:nvPr>
        </p:nvSpPr>
        <p:spPr>
          <a:xfrm>
            <a:off x="248920" y="0"/>
            <a:ext cx="10515600" cy="1325563"/>
          </a:xfrm>
        </p:spPr>
        <p:txBody>
          <a:bodyPr>
            <a:normAutofit/>
          </a:bodyPr>
          <a:lstStyle/>
          <a:p>
            <a:r>
              <a:rPr lang="en-US" sz="2400" dirty="0"/>
              <a:t>Climate Analysis </a:t>
            </a:r>
            <a:endParaRPr lang="en-IN" sz="2400" dirty="0"/>
          </a:p>
        </p:txBody>
      </p:sp>
      <p:sp>
        <p:nvSpPr>
          <p:cNvPr id="3" name="Content Placeholder 2">
            <a:extLst>
              <a:ext uri="{FF2B5EF4-FFF2-40B4-BE49-F238E27FC236}">
                <a16:creationId xmlns:a16="http://schemas.microsoft.com/office/drawing/2014/main" id="{428EECF3-6D96-B33E-62BA-429AD0F4E746}"/>
              </a:ext>
            </a:extLst>
          </p:cNvPr>
          <p:cNvSpPr>
            <a:spLocks noGrp="1"/>
          </p:cNvSpPr>
          <p:nvPr>
            <p:ph idx="1"/>
          </p:nvPr>
        </p:nvSpPr>
        <p:spPr>
          <a:xfrm>
            <a:off x="391160" y="1325563"/>
            <a:ext cx="10515600" cy="4351338"/>
          </a:xfrm>
        </p:spPr>
        <p:txBody>
          <a:bodyPr>
            <a:normAutofit/>
          </a:bodyPr>
          <a:lstStyle/>
          <a:p>
            <a:r>
              <a:rPr lang="en-IN" sz="2000" dirty="0" err="1"/>
              <a:t>regional_climate</a:t>
            </a:r>
            <a:r>
              <a:rPr lang="en-IN" sz="2000" dirty="0"/>
              <a:t> = </a:t>
            </a:r>
            <a:r>
              <a:rPr lang="en-IN" sz="2000" dirty="0" err="1"/>
              <a:t>df.groupby</a:t>
            </a:r>
            <a:r>
              <a:rPr lang="en-IN" sz="2000" dirty="0"/>
              <a:t>('</a:t>
            </a:r>
            <a:r>
              <a:rPr lang="en-IN" sz="2000" dirty="0" err="1"/>
              <a:t>location_name</a:t>
            </a:r>
            <a:r>
              <a:rPr lang="en-IN" sz="2000" dirty="0"/>
              <a:t>')['</a:t>
            </a:r>
            <a:r>
              <a:rPr lang="en-IN" sz="2000" dirty="0" err="1"/>
              <a:t>temperature_celsius</a:t>
            </a:r>
            <a:r>
              <a:rPr lang="en-IN" sz="2000" dirty="0"/>
              <a:t>'].</a:t>
            </a:r>
            <a:r>
              <a:rPr lang="en-IN" sz="2000" dirty="0" err="1"/>
              <a:t>agg</a:t>
            </a:r>
            <a:r>
              <a:rPr lang="en-IN" sz="2000" dirty="0"/>
              <a:t>(['mean', 'max', 'min']).head(10).</a:t>
            </a:r>
            <a:r>
              <a:rPr lang="en-IN" sz="2000" dirty="0" err="1"/>
              <a:t>reset_index</a:t>
            </a:r>
            <a:r>
              <a:rPr lang="en-IN" sz="2000" dirty="0"/>
              <a:t>() -&gt; group by  and calculate </a:t>
            </a:r>
            <a:r>
              <a:rPr lang="en-IN" sz="2000" dirty="0" err="1"/>
              <a:t>air_quality</a:t>
            </a:r>
            <a:r>
              <a:rPr lang="en-IN" sz="2000" dirty="0"/>
              <a:t> metrics </a:t>
            </a:r>
          </a:p>
          <a:p>
            <a:r>
              <a:rPr lang="en-IN" sz="2000" dirty="0"/>
              <a:t>print(</a:t>
            </a:r>
            <a:r>
              <a:rPr lang="en-IN" sz="2000" dirty="0" err="1"/>
              <a:t>regional_climate</a:t>
            </a:r>
            <a:r>
              <a:rPr lang="en-IN" sz="2000" dirty="0"/>
              <a:t>) -&gt; print the regional climate </a:t>
            </a:r>
          </a:p>
          <a:p>
            <a:endParaRPr lang="en-IN" sz="2000" dirty="0"/>
          </a:p>
          <a:p>
            <a:endParaRPr lang="en-IN" sz="2000" dirty="0"/>
          </a:p>
          <a:p>
            <a:pPr marL="0" indent="0">
              <a:buNone/>
            </a:pPr>
            <a:endParaRPr lang="en-IN" sz="2000" dirty="0"/>
          </a:p>
          <a:p>
            <a:endParaRPr lang="en-IN" sz="2000" dirty="0"/>
          </a:p>
        </p:txBody>
      </p:sp>
      <p:pic>
        <p:nvPicPr>
          <p:cNvPr id="5" name="Picture 4">
            <a:extLst>
              <a:ext uri="{FF2B5EF4-FFF2-40B4-BE49-F238E27FC236}">
                <a16:creationId xmlns:a16="http://schemas.microsoft.com/office/drawing/2014/main" id="{283A6644-4080-8654-584D-6A94E9A21663}"/>
              </a:ext>
            </a:extLst>
          </p:cNvPr>
          <p:cNvPicPr>
            <a:picLocks noChangeAspect="1"/>
          </p:cNvPicPr>
          <p:nvPr/>
        </p:nvPicPr>
        <p:blipFill>
          <a:blip r:embed="rId2"/>
          <a:stretch>
            <a:fillRect/>
          </a:stretch>
        </p:blipFill>
        <p:spPr>
          <a:xfrm>
            <a:off x="152400" y="3018786"/>
            <a:ext cx="12192000" cy="2039627"/>
          </a:xfrm>
          <a:prstGeom prst="rect">
            <a:avLst/>
          </a:prstGeom>
        </p:spPr>
      </p:pic>
    </p:spTree>
    <p:extLst>
      <p:ext uri="{BB962C8B-B14F-4D97-AF65-F5344CB8AC3E}">
        <p14:creationId xmlns:p14="http://schemas.microsoft.com/office/powerpoint/2010/main" val="1739438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23CD5-5FDC-B020-3D51-7200241F5531}"/>
              </a:ext>
            </a:extLst>
          </p:cNvPr>
          <p:cNvSpPr>
            <a:spLocks noGrp="1"/>
          </p:cNvSpPr>
          <p:nvPr>
            <p:ph type="title"/>
          </p:nvPr>
        </p:nvSpPr>
        <p:spPr>
          <a:xfrm>
            <a:off x="838200" y="365125"/>
            <a:ext cx="10515600" cy="518795"/>
          </a:xfrm>
        </p:spPr>
        <p:txBody>
          <a:bodyPr>
            <a:normAutofit fontScale="90000"/>
          </a:bodyPr>
          <a:lstStyle/>
          <a:p>
            <a:r>
              <a:rPr lang="en-US" dirty="0"/>
              <a:t>Air Quality </a:t>
            </a:r>
            <a:endParaRPr lang="en-IN" dirty="0"/>
          </a:p>
        </p:txBody>
      </p:sp>
      <p:sp>
        <p:nvSpPr>
          <p:cNvPr id="3" name="Content Placeholder 2">
            <a:extLst>
              <a:ext uri="{FF2B5EF4-FFF2-40B4-BE49-F238E27FC236}">
                <a16:creationId xmlns:a16="http://schemas.microsoft.com/office/drawing/2014/main" id="{38E74EE4-6578-CB95-31D4-CD266C05D33C}"/>
              </a:ext>
            </a:extLst>
          </p:cNvPr>
          <p:cNvSpPr>
            <a:spLocks noGrp="1"/>
          </p:cNvSpPr>
          <p:nvPr>
            <p:ph idx="1"/>
          </p:nvPr>
        </p:nvSpPr>
        <p:spPr>
          <a:xfrm>
            <a:off x="838200" y="883920"/>
            <a:ext cx="10515600" cy="5293043"/>
          </a:xfrm>
        </p:spPr>
        <p:txBody>
          <a:bodyPr/>
          <a:lstStyle/>
          <a:p>
            <a:r>
              <a:rPr lang="en-IN" sz="2000" dirty="0"/>
              <a:t>print("\n--- Air Quality (PM2.5) Correlation Vector ---")</a:t>
            </a:r>
          </a:p>
          <a:p>
            <a:r>
              <a:rPr lang="en-IN" sz="2000" dirty="0" err="1"/>
              <a:t>air_quality_metrics</a:t>
            </a:r>
            <a:r>
              <a:rPr lang="en-IN" sz="2000" dirty="0"/>
              <a:t> = ['air_quality_PM2.5', '</a:t>
            </a:r>
            <a:r>
              <a:rPr lang="en-IN" sz="2000" dirty="0" err="1"/>
              <a:t>temperature_celsius</a:t>
            </a:r>
            <a:r>
              <a:rPr lang="en-IN" sz="2000" dirty="0"/>
              <a:t>', 'humidity', '</a:t>
            </a:r>
            <a:r>
              <a:rPr lang="en-IN" sz="2000" dirty="0" err="1"/>
              <a:t>wind_kph</a:t>
            </a:r>
            <a:r>
              <a:rPr lang="en-IN" sz="2000" dirty="0"/>
              <a:t>', '</a:t>
            </a:r>
            <a:r>
              <a:rPr lang="en-IN" sz="2000" dirty="0" err="1"/>
              <a:t>pressure_mb</a:t>
            </a:r>
            <a:r>
              <a:rPr lang="en-IN" sz="2000" dirty="0"/>
              <a:t>']</a:t>
            </a:r>
          </a:p>
          <a:p>
            <a:r>
              <a:rPr lang="en-IN" sz="2000" dirty="0" err="1"/>
              <a:t>correlation_summary</a:t>
            </a:r>
            <a:r>
              <a:rPr lang="en-IN" sz="2000" dirty="0"/>
              <a:t> = </a:t>
            </a:r>
            <a:r>
              <a:rPr lang="en-IN" sz="2000" dirty="0" err="1"/>
              <a:t>df</a:t>
            </a:r>
            <a:r>
              <a:rPr lang="en-IN" sz="2000" dirty="0"/>
              <a:t>[</a:t>
            </a:r>
            <a:r>
              <a:rPr lang="en-IN" sz="2000" dirty="0" err="1"/>
              <a:t>air_quality_metrics</a:t>
            </a:r>
            <a:r>
              <a:rPr lang="en-IN" sz="2000" dirty="0"/>
              <a:t>].</a:t>
            </a:r>
            <a:r>
              <a:rPr lang="en-IN" sz="2000" dirty="0" err="1"/>
              <a:t>corr</a:t>
            </a:r>
            <a:r>
              <a:rPr lang="en-IN" sz="2000" dirty="0"/>
              <a:t>()['air_quality_PM2.5'].</a:t>
            </a:r>
            <a:r>
              <a:rPr lang="en-IN" sz="2000" dirty="0" err="1"/>
              <a:t>sort_values</a:t>
            </a:r>
            <a:r>
              <a:rPr lang="en-IN" sz="2000" dirty="0"/>
              <a:t>(ascending=True)</a:t>
            </a:r>
          </a:p>
          <a:p>
            <a:endParaRPr lang="en-IN" dirty="0"/>
          </a:p>
          <a:p>
            <a:endParaRPr lang="en-IN"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0845BA14-5361-8A28-61C8-F2E563AD272D}"/>
              </a:ext>
            </a:extLst>
          </p:cNvPr>
          <p:cNvPicPr>
            <a:picLocks noChangeAspect="1"/>
          </p:cNvPicPr>
          <p:nvPr/>
        </p:nvPicPr>
        <p:blipFill>
          <a:blip r:embed="rId2"/>
          <a:stretch>
            <a:fillRect/>
          </a:stretch>
        </p:blipFill>
        <p:spPr>
          <a:xfrm>
            <a:off x="838200" y="2946290"/>
            <a:ext cx="8276037" cy="2530059"/>
          </a:xfrm>
          <a:prstGeom prst="rect">
            <a:avLst/>
          </a:prstGeom>
        </p:spPr>
      </p:pic>
    </p:spTree>
    <p:extLst>
      <p:ext uri="{BB962C8B-B14F-4D97-AF65-F5344CB8AC3E}">
        <p14:creationId xmlns:p14="http://schemas.microsoft.com/office/powerpoint/2010/main" val="18119189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3FB2-BCFB-7A61-E8C3-93D187C3C1CF}"/>
              </a:ext>
            </a:extLst>
          </p:cNvPr>
          <p:cNvSpPr>
            <a:spLocks noGrp="1"/>
          </p:cNvSpPr>
          <p:nvPr>
            <p:ph type="title"/>
          </p:nvPr>
        </p:nvSpPr>
        <p:spPr/>
        <p:txBody>
          <a:bodyPr>
            <a:normAutofit fontScale="90000"/>
          </a:bodyPr>
          <a:lstStyle/>
          <a:p>
            <a:r>
              <a:rPr lang="en-IN" dirty="0"/>
              <a:t>Spatial Analysis: </a:t>
            </a:r>
            <a:r>
              <a:rPr lang="en-IN" dirty="0" err="1"/>
              <a:t>Analyze</a:t>
            </a:r>
            <a:r>
              <a:rPr lang="en-IN" dirty="0"/>
              <a:t> and visualize geographical patterns in the data.</a:t>
            </a:r>
            <a:br>
              <a:rPr lang="en-IN" dirty="0"/>
            </a:br>
            <a:endParaRPr lang="en-IN" dirty="0"/>
          </a:p>
        </p:txBody>
      </p:sp>
      <p:pic>
        <p:nvPicPr>
          <p:cNvPr id="5" name="Content Placeholder 4">
            <a:extLst>
              <a:ext uri="{FF2B5EF4-FFF2-40B4-BE49-F238E27FC236}">
                <a16:creationId xmlns:a16="http://schemas.microsoft.com/office/drawing/2014/main" id="{FCC79DB4-39A3-A9BF-E1A1-8DE4458CBD11}"/>
              </a:ext>
            </a:extLst>
          </p:cNvPr>
          <p:cNvPicPr>
            <a:picLocks noGrp="1" noChangeAspect="1"/>
          </p:cNvPicPr>
          <p:nvPr>
            <p:ph idx="1"/>
          </p:nvPr>
        </p:nvPicPr>
        <p:blipFill>
          <a:blip r:embed="rId2"/>
          <a:stretch>
            <a:fillRect/>
          </a:stretch>
        </p:blipFill>
        <p:spPr>
          <a:xfrm>
            <a:off x="838200" y="2300689"/>
            <a:ext cx="10515600" cy="3401210"/>
          </a:xfrm>
          <a:prstGeom prst="rect">
            <a:avLst/>
          </a:prstGeom>
        </p:spPr>
      </p:pic>
    </p:spTree>
    <p:extLst>
      <p:ext uri="{BB962C8B-B14F-4D97-AF65-F5344CB8AC3E}">
        <p14:creationId xmlns:p14="http://schemas.microsoft.com/office/powerpoint/2010/main" val="2172270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D4040A1D-9BE5-EC04-3AC4-15E2FB8B59A6}"/>
              </a:ext>
            </a:extLst>
          </p:cNvPr>
          <p:cNvPicPr>
            <a:picLocks noGrp="1" noChangeAspect="1"/>
          </p:cNvPicPr>
          <p:nvPr>
            <p:ph idx="1"/>
          </p:nvPr>
        </p:nvPicPr>
        <p:blipFill>
          <a:blip r:embed="rId2"/>
          <a:srcRect t="23484"/>
          <a:stretch>
            <a:fillRect/>
          </a:stretch>
        </p:blipFill>
        <p:spPr>
          <a:xfrm>
            <a:off x="20" y="1282"/>
            <a:ext cx="12191980" cy="6856718"/>
          </a:xfrm>
          <a:prstGeom prst="rect">
            <a:avLst/>
          </a:prstGeom>
        </p:spPr>
      </p:pic>
    </p:spTree>
    <p:extLst>
      <p:ext uri="{BB962C8B-B14F-4D97-AF65-F5344CB8AC3E}">
        <p14:creationId xmlns:p14="http://schemas.microsoft.com/office/powerpoint/2010/main" val="1615564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3A68EFA8-4D67-5C27-6CD4-C9BB8AD7E6EB}"/>
              </a:ext>
            </a:extLst>
          </p:cNvPr>
          <p:cNvPicPr>
            <a:picLocks noGrp="1" noChangeAspect="1"/>
          </p:cNvPicPr>
          <p:nvPr>
            <p:ph idx="1"/>
          </p:nvPr>
        </p:nvPicPr>
        <p:blipFill>
          <a:blip r:embed="rId2"/>
          <a:srcRect t="21060" b="8421"/>
          <a:stretch>
            <a:fillRect/>
          </a:stretch>
        </p:blipFill>
        <p:spPr>
          <a:xfrm>
            <a:off x="20" y="1282"/>
            <a:ext cx="12191980" cy="6856718"/>
          </a:xfrm>
          <a:prstGeom prst="rect">
            <a:avLst/>
          </a:prstGeom>
        </p:spPr>
      </p:pic>
    </p:spTree>
    <p:extLst>
      <p:ext uri="{BB962C8B-B14F-4D97-AF65-F5344CB8AC3E}">
        <p14:creationId xmlns:p14="http://schemas.microsoft.com/office/powerpoint/2010/main" val="16763394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6FD7-5CF7-E93E-A1CC-B30D1488CE12}"/>
              </a:ext>
            </a:extLst>
          </p:cNvPr>
          <p:cNvSpPr>
            <a:spLocks noGrp="1"/>
          </p:cNvSpPr>
          <p:nvPr>
            <p:ph type="title"/>
          </p:nvPr>
        </p:nvSpPr>
        <p:spPr>
          <a:xfrm>
            <a:off x="762001" y="1141711"/>
            <a:ext cx="3234466" cy="3474364"/>
          </a:xfrm>
        </p:spPr>
        <p:txBody>
          <a:bodyPr vert="horz" lIns="91440" tIns="45720" rIns="91440" bIns="45720" rtlCol="0" anchor="t">
            <a:normAutofit/>
          </a:bodyPr>
          <a:lstStyle/>
          <a:p>
            <a:r>
              <a:rPr lang="en-US" sz="3300" kern="1200">
                <a:solidFill>
                  <a:schemeClr val="tx1"/>
                </a:solidFill>
                <a:latin typeface="+mj-lt"/>
                <a:ea typeface="+mj-ea"/>
                <a:cs typeface="+mj-cs"/>
              </a:rPr>
              <a:t>Geographical Patterns: Explore how weather conditions differ across countries and continents.</a:t>
            </a:r>
          </a:p>
        </p:txBody>
      </p:sp>
      <p:cxnSp>
        <p:nvCxnSpPr>
          <p:cNvPr id="10" name="Straight Connector 9">
            <a:extLst>
              <a:ext uri="{FF2B5EF4-FFF2-40B4-BE49-F238E27FC236}">
                <a16:creationId xmlns:a16="http://schemas.microsoft.com/office/drawing/2014/main" id="{33193FD5-6A49-7562-EA76-F15D42E158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F0F4D2C4-A5EF-8BA8-791F-FE8D38F574E5}"/>
              </a:ext>
            </a:extLst>
          </p:cNvPr>
          <p:cNvPicPr>
            <a:picLocks noGrp="1" noChangeAspect="1"/>
          </p:cNvPicPr>
          <p:nvPr>
            <p:ph idx="1"/>
          </p:nvPr>
        </p:nvPicPr>
        <p:blipFill>
          <a:blip r:embed="rId2"/>
          <a:stretch>
            <a:fillRect/>
          </a:stretch>
        </p:blipFill>
        <p:spPr>
          <a:xfrm>
            <a:off x="4615543" y="938973"/>
            <a:ext cx="6711317" cy="4999931"/>
          </a:xfrm>
          <a:prstGeom prst="rect">
            <a:avLst/>
          </a:prstGeom>
        </p:spPr>
      </p:pic>
    </p:spTree>
    <p:extLst>
      <p:ext uri="{BB962C8B-B14F-4D97-AF65-F5344CB8AC3E}">
        <p14:creationId xmlns:p14="http://schemas.microsoft.com/office/powerpoint/2010/main" val="987674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821</TotalTime>
  <Words>3636</Words>
  <Application>Microsoft Office PowerPoint</Application>
  <PresentationFormat>Widescreen</PresentationFormat>
  <Paragraphs>255</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Aptos</vt:lpstr>
      <vt:lpstr>Aptos Display</vt:lpstr>
      <vt:lpstr>Arial</vt:lpstr>
      <vt:lpstr>Office Theme</vt:lpstr>
      <vt:lpstr>PM Acclerator  Data Analysis</vt:lpstr>
      <vt:lpstr>           PM Acclerator  Mission    By making industry-leading tools and education available to individuals from all backgrounds, we level the playing field for future PM leaders. This is the PM Accelerator motto, as we grant aspiring and experienced PMs what they need most – Access. We introduce you to industry leaders, surround you with the right PM ecosystem, and discover the new world of AI product management skills.</vt:lpstr>
      <vt:lpstr>Dataset :-https://www.kaggle.com/datasets/nelgiriyewithana/global-weather-repository/code</vt:lpstr>
      <vt:lpstr>we used df.info() to see what data types are there</vt:lpstr>
      <vt:lpstr>we use df.describe() to see various things like (mean , std, min) for our dataset across all the columns </vt:lpstr>
      <vt:lpstr>Data Cleaning and Preprocessing</vt:lpstr>
      <vt:lpstr>We fill using fillna function to handle missing values and fill that missing values with mean of numeric columns  we check using .isnull() function and .sum() to show if there are missing values present in data we can see it is 0 </vt:lpstr>
      <vt:lpstr>We further check using .sum() values</vt:lpstr>
      <vt:lpstr>We check if there any duplicate values in data or not </vt:lpstr>
      <vt:lpstr>Handling Outliers  what are outliers An outlier is a data point that is significantly different from the rest of the observations in a dataset.   </vt:lpstr>
      <vt:lpstr>How to calculate outliers</vt:lpstr>
      <vt:lpstr>PowerPoint Presentation</vt:lpstr>
      <vt:lpstr>PowerPoint Presentation</vt:lpstr>
      <vt:lpstr>How  did we handle outliers?</vt:lpstr>
      <vt:lpstr>Splitting the dataset why ?</vt:lpstr>
      <vt:lpstr>PowerPoint Presentation</vt:lpstr>
      <vt:lpstr>Handling the text columns</vt:lpstr>
      <vt:lpstr>Scaling</vt:lpstr>
      <vt:lpstr>Code for Scaling and Normalization</vt:lpstr>
      <vt:lpstr>PowerPoint Presentation</vt:lpstr>
      <vt:lpstr>PowerPoint Presentation</vt:lpstr>
      <vt:lpstr>EDA </vt:lpstr>
      <vt:lpstr>PowerPoint Presentation</vt:lpstr>
      <vt:lpstr>PowerPoint Presentation</vt:lpstr>
      <vt:lpstr>Code for boxplot between Temperature and Weather </vt:lpstr>
      <vt:lpstr>PowerPoint Presentation</vt:lpstr>
      <vt:lpstr>Code for Heatmap of correlation between numerical columns</vt:lpstr>
      <vt:lpstr>PowerPoint Presentation</vt:lpstr>
      <vt:lpstr>Code for chart between Percipitation and Weather</vt:lpstr>
      <vt:lpstr>PowerPoint Presentation</vt:lpstr>
      <vt:lpstr>Model Building </vt:lpstr>
      <vt:lpstr>PowerPoint Presentation</vt:lpstr>
      <vt:lpstr>PowerPoint Presentation</vt:lpstr>
      <vt:lpstr>Model Building -1 </vt:lpstr>
      <vt:lpstr>PowerPoint Presentation</vt:lpstr>
      <vt:lpstr>PowerPoint Presentation</vt:lpstr>
      <vt:lpstr>PowerPoint Presentation</vt:lpstr>
      <vt:lpstr> Model Building-2</vt:lpstr>
      <vt:lpstr>PowerPoint Presentation</vt:lpstr>
      <vt:lpstr>PowerPoint Presentation</vt:lpstr>
      <vt:lpstr>PowerPoint Presentation</vt:lpstr>
      <vt:lpstr>PowerPoint Presentation</vt:lpstr>
      <vt:lpstr>PowerPoint Presentation</vt:lpstr>
      <vt:lpstr>Anomaly Detection </vt:lpstr>
      <vt:lpstr>Anomaly Detection</vt:lpstr>
      <vt:lpstr>PowerPoint Presentation</vt:lpstr>
      <vt:lpstr>Feature Importance </vt:lpstr>
      <vt:lpstr>PowerPoint Presentation</vt:lpstr>
      <vt:lpstr>Climate Analysis </vt:lpstr>
      <vt:lpstr>Air Quality </vt:lpstr>
      <vt:lpstr>Spatial Analysis: Analyze and visualize geographical patterns in the data. </vt:lpstr>
      <vt:lpstr>PowerPoint Presentation</vt:lpstr>
      <vt:lpstr>PowerPoint Presentation</vt:lpstr>
      <vt:lpstr>Geographical Patterns: Explore how weather conditions differ across countries and continents.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kashyap23csu154</dc:creator>
  <cp:lastModifiedBy>kashyap23csu154</cp:lastModifiedBy>
  <cp:revision>3</cp:revision>
  <dcterms:created xsi:type="dcterms:W3CDTF">2026-06-30T09:20:58Z</dcterms:created>
  <dcterms:modified xsi:type="dcterms:W3CDTF">2026-07-01T14:37:11Z</dcterms:modified>
</cp:coreProperties>
</file>